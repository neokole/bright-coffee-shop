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 id="283" r:id="rId11"/>
    <p:sldId id="266" r:id="rId12"/>
    <p:sldId id="267" r:id="rId13"/>
    <p:sldId id="268" r:id="rId14"/>
    <p:sldId id="269" r:id="rId15"/>
    <p:sldId id="270" r:id="rId16"/>
    <p:sldId id="273" r:id="rId17"/>
    <p:sldId id="274" r:id="rId18"/>
    <p:sldId id="275" r:id="rId19"/>
    <p:sldId id="276" r:id="rId20"/>
    <p:sldId id="277" r:id="rId21"/>
    <p:sldId id="278" r:id="rId22"/>
    <p:sldId id="279" r:id="rId23"/>
    <p:sldId id="280" r:id="rId24"/>
    <p:sldId id="281" r:id="rId25"/>
    <p:sldId id="271" r:id="rId26"/>
    <p:sldId id="27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11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tx>
        <c:rich>
          <a:bodyPr/>
          <a:lstStyle/>
          <a:p>
            <a:pPr>
              <a:defRPr sz="1300" b="1"/>
            </a:pPr>
            <a:r>
              <a:rPr lang="en-ZA"/>
              <a:t>Total Revenue by Store</a:t>
            </a:r>
          </a:p>
        </c:rich>
      </c:tx>
      <c:overlay val="0"/>
    </c:title>
    <c:autoTitleDeleted val="0"/>
    <c:plotArea>
      <c:layout/>
      <c:barChart>
        <c:barDir val="col"/>
        <c:grouping val="clustered"/>
        <c:varyColors val="1"/>
        <c:ser>
          <c:idx val="0"/>
          <c:order val="0"/>
          <c:tx>
            <c:strRef>
              <c:f>Sheet1!$B$1</c:f>
              <c:strCache>
                <c:ptCount val="1"/>
                <c:pt idx="0">
                  <c:v>Total Revenue by Store</c:v>
                </c:pt>
              </c:strCache>
            </c:strRef>
          </c:tx>
          <c:invertIfNegative val="1"/>
          <c:cat>
            <c:strRef>
              <c:f>Sheet1!$A$2:$A$4</c:f>
              <c:strCache>
                <c:ptCount val="3"/>
                <c:pt idx="0">
                  <c:v>Hell's Kitchen</c:v>
                </c:pt>
                <c:pt idx="1">
                  <c:v>Astoria</c:v>
                </c:pt>
                <c:pt idx="2">
                  <c:v>Lower Manhattan</c:v>
                </c:pt>
              </c:strCache>
            </c:strRef>
          </c:cat>
          <c:val>
            <c:numRef>
              <c:f>Sheet1!$B$2:$B$4</c:f>
              <c:numCache>
                <c:formatCode>General</c:formatCode>
                <c:ptCount val="3"/>
                <c:pt idx="0">
                  <c:v>236511.17</c:v>
                </c:pt>
                <c:pt idx="1">
                  <c:v>232243.91</c:v>
                </c:pt>
                <c:pt idx="2">
                  <c:v>230057.25</c:v>
                </c:pt>
              </c:numCache>
            </c:numRef>
          </c:val>
          <c:extLst>
            <c:ext xmlns:c16="http://schemas.microsoft.com/office/drawing/2014/chart" uri="{C3380CC4-5D6E-409C-BE32-E72D297353CC}">
              <c16:uniqueId val="{00000000-CD93-4D5D-ABC6-C9739BBC59D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tx>
        <c:rich>
          <a:bodyPr/>
          <a:lstStyle/>
          <a:p>
            <a:pPr>
              <a:defRPr sz="1300" b="1"/>
            </a:pPr>
            <a:r>
              <a:rPr lang="en-ZA"/>
              <a:t>Revenue by Category</a:t>
            </a:r>
          </a:p>
        </c:rich>
      </c:tx>
      <c:overlay val="0"/>
    </c:title>
    <c:autoTitleDeleted val="0"/>
    <c:plotArea>
      <c:layout/>
      <c:barChart>
        <c:barDir val="bar"/>
        <c:grouping val="clustered"/>
        <c:varyColors val="1"/>
        <c:ser>
          <c:idx val="0"/>
          <c:order val="0"/>
          <c:tx>
            <c:strRef>
              <c:f>Sheet1!$B$1</c:f>
              <c:strCache>
                <c:ptCount val="1"/>
                <c:pt idx="0">
                  <c:v>Revenue by Category</c:v>
                </c:pt>
              </c:strCache>
            </c:strRef>
          </c:tx>
          <c:invertIfNegative val="1"/>
          <c:cat>
            <c:strRef>
              <c:f>Sheet1!$A$2:$A$10</c:f>
              <c:strCache>
                <c:ptCount val="9"/>
                <c:pt idx="0">
                  <c:v>Coffee</c:v>
                </c:pt>
                <c:pt idx="1">
                  <c:v>Tea</c:v>
                </c:pt>
                <c:pt idx="2">
                  <c:v>Bakery</c:v>
                </c:pt>
                <c:pt idx="3">
                  <c:v>Drinking Chocolate</c:v>
                </c:pt>
                <c:pt idx="4">
                  <c:v>Coffee beans</c:v>
                </c:pt>
                <c:pt idx="5">
                  <c:v>Branded</c:v>
                </c:pt>
                <c:pt idx="6">
                  <c:v>Loose Tea</c:v>
                </c:pt>
                <c:pt idx="7">
                  <c:v>Flavours</c:v>
                </c:pt>
                <c:pt idx="8">
                  <c:v>Packaged Chocolate</c:v>
                </c:pt>
              </c:strCache>
            </c:strRef>
          </c:cat>
          <c:val>
            <c:numRef>
              <c:f>Sheet1!$B$2:$B$10</c:f>
              <c:numCache>
                <c:formatCode>General</c:formatCode>
                <c:ptCount val="9"/>
                <c:pt idx="0">
                  <c:v>269952.45</c:v>
                </c:pt>
                <c:pt idx="1">
                  <c:v>196405.95</c:v>
                </c:pt>
                <c:pt idx="2">
                  <c:v>82315.64</c:v>
                </c:pt>
                <c:pt idx="3">
                  <c:v>72416</c:v>
                </c:pt>
                <c:pt idx="4">
                  <c:v>40085.25</c:v>
                </c:pt>
                <c:pt idx="5">
                  <c:v>13607</c:v>
                </c:pt>
                <c:pt idx="6">
                  <c:v>11213.6</c:v>
                </c:pt>
                <c:pt idx="7">
                  <c:v>8408.7999999999993</c:v>
                </c:pt>
                <c:pt idx="8">
                  <c:v>4407.6400000000003</c:v>
                </c:pt>
              </c:numCache>
            </c:numRef>
          </c:val>
          <c:extLst>
            <c:ext xmlns:c16="http://schemas.microsoft.com/office/drawing/2014/chart" uri="{C3380CC4-5D6E-409C-BE32-E72D297353CC}">
              <c16:uniqueId val="{00000000-DF84-4A70-A64B-F4D124A3242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tx>
        <c:rich>
          <a:bodyPr/>
          <a:lstStyle/>
          <a:p>
            <a:pPr>
              <a:defRPr sz="1300" b="1"/>
            </a:pPr>
            <a:r>
              <a:rPr lang="en-ZA"/>
              <a:t>Top 10 Product Details</a:t>
            </a:r>
          </a:p>
        </c:rich>
      </c:tx>
      <c:overlay val="0"/>
    </c:title>
    <c:autoTitleDeleted val="0"/>
    <c:plotArea>
      <c:layout/>
      <c:barChart>
        <c:barDir val="bar"/>
        <c:grouping val="clustered"/>
        <c:varyColors val="1"/>
        <c:ser>
          <c:idx val="0"/>
          <c:order val="0"/>
          <c:tx>
            <c:strRef>
              <c:f>Sheet1!$B$1</c:f>
              <c:strCache>
                <c:ptCount val="1"/>
                <c:pt idx="0">
                  <c:v>Top 10 Product Details</c:v>
                </c:pt>
              </c:strCache>
            </c:strRef>
          </c:tx>
          <c:invertIfNegative val="1"/>
          <c:cat>
            <c:strRef>
              <c:f>Sheet1!$A$2:$A$11</c:f>
              <c:strCache>
                <c:ptCount val="10"/>
                <c:pt idx="0">
                  <c:v>Brazilian Lg</c:v>
                </c:pt>
                <c:pt idx="1">
                  <c:v>Cappuccino</c:v>
                </c:pt>
                <c:pt idx="2">
                  <c:v>Sustainably Grown Organic Rg</c:v>
                </c:pt>
                <c:pt idx="3">
                  <c:v>Jamaican Coffee River Lg</c:v>
                </c:pt>
                <c:pt idx="4">
                  <c:v>Latte</c:v>
                </c:pt>
                <c:pt idx="5">
                  <c:v>Morning Sunrise Chai Lg</c:v>
                </c:pt>
                <c:pt idx="6">
                  <c:v>Cappuccino Lg</c:v>
                </c:pt>
                <c:pt idx="7">
                  <c:v>Latte Rg</c:v>
                </c:pt>
                <c:pt idx="8">
                  <c:v>Dark chocolate Lg</c:v>
                </c:pt>
                <c:pt idx="9">
                  <c:v>Sustainably Grown Organic Lg</c:v>
                </c:pt>
              </c:strCache>
            </c:strRef>
          </c:cat>
          <c:val>
            <c:numRef>
              <c:f>Sheet1!$B$2:$B$11</c:f>
              <c:numCache>
                <c:formatCode>General</c:formatCode>
                <c:ptCount val="10"/>
                <c:pt idx="0">
                  <c:v>15109.5</c:v>
                </c:pt>
                <c:pt idx="1">
                  <c:v>15997.5</c:v>
                </c:pt>
                <c:pt idx="2">
                  <c:v>16233.75</c:v>
                </c:pt>
                <c:pt idx="3">
                  <c:v>16481.25</c:v>
                </c:pt>
                <c:pt idx="4">
                  <c:v>17257.5</c:v>
                </c:pt>
                <c:pt idx="5">
                  <c:v>17384</c:v>
                </c:pt>
                <c:pt idx="6">
                  <c:v>17641.75</c:v>
                </c:pt>
                <c:pt idx="7">
                  <c:v>19112.25</c:v>
                </c:pt>
                <c:pt idx="8">
                  <c:v>21006</c:v>
                </c:pt>
                <c:pt idx="9">
                  <c:v>21151.75</c:v>
                </c:pt>
              </c:numCache>
            </c:numRef>
          </c:val>
          <c:extLst>
            <c:ext xmlns:c16="http://schemas.microsoft.com/office/drawing/2014/chart" uri="{C3380CC4-5D6E-409C-BE32-E72D297353CC}">
              <c16:uniqueId val="{00000000-40C5-4CC6-9AB9-55FB5F9FA82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tx>
        <c:rich>
          <a:bodyPr/>
          <a:lstStyle/>
          <a:p>
            <a:pPr>
              <a:defRPr sz="1300" b="1"/>
            </a:pPr>
            <a:r>
              <a:rPr lang="en-ZA"/>
              <a:t>Revenue by Time Period</a:t>
            </a:r>
          </a:p>
        </c:rich>
      </c:tx>
      <c:overlay val="0"/>
    </c:title>
    <c:autoTitleDeleted val="0"/>
    <c:plotArea>
      <c:layout/>
      <c:barChart>
        <c:barDir val="col"/>
        <c:grouping val="clustered"/>
        <c:varyColors val="1"/>
        <c:ser>
          <c:idx val="0"/>
          <c:order val="0"/>
          <c:tx>
            <c:strRef>
              <c:f>Sheet1!$B$1</c:f>
              <c:strCache>
                <c:ptCount val="1"/>
                <c:pt idx="0">
                  <c:v>Revenue by Time Period</c:v>
                </c:pt>
              </c:strCache>
            </c:strRef>
          </c:tx>
          <c:invertIfNegative val="1"/>
          <c:cat>
            <c:strRef>
              <c:f>Sheet1!$A$2:$A$5</c:f>
              <c:strCache>
                <c:ptCount val="4"/>
                <c:pt idx="0">
                  <c:v>Morning</c:v>
                </c:pt>
                <c:pt idx="1">
                  <c:v>Afternoon</c:v>
                </c:pt>
                <c:pt idx="2">
                  <c:v>Evening</c:v>
                </c:pt>
                <c:pt idx="3">
                  <c:v>Other</c:v>
                </c:pt>
              </c:strCache>
            </c:strRef>
          </c:cat>
          <c:val>
            <c:numRef>
              <c:f>Sheet1!$B$2:$B$5</c:f>
              <c:numCache>
                <c:formatCode>General</c:formatCode>
                <c:ptCount val="4"/>
                <c:pt idx="0">
                  <c:v>388288.67</c:v>
                </c:pt>
                <c:pt idx="1">
                  <c:v>244855.14</c:v>
                </c:pt>
                <c:pt idx="2">
                  <c:v>65668.52</c:v>
                </c:pt>
                <c:pt idx="3">
                  <c:v>0</c:v>
                </c:pt>
              </c:numCache>
            </c:numRef>
          </c:val>
          <c:extLst>
            <c:ext xmlns:c16="http://schemas.microsoft.com/office/drawing/2014/chart" uri="{C3380CC4-5D6E-409C-BE32-E72D297353CC}">
              <c16:uniqueId val="{00000000-6E46-4B30-A661-97B3B5F6D2B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title>
      <c:tx>
        <c:rich>
          <a:bodyPr/>
          <a:lstStyle/>
          <a:p>
            <a:pPr>
              <a:defRPr sz="1300" b="1"/>
            </a:pPr>
            <a:r>
              <a:rPr lang="en-ZA"/>
              <a:t>Monthly Revenue Trend</a:t>
            </a:r>
          </a:p>
        </c:rich>
      </c:tx>
      <c:overlay val="0"/>
    </c:title>
    <c:autoTitleDeleted val="0"/>
    <c:plotArea>
      <c:layout/>
      <c:lineChart>
        <c:grouping val="standard"/>
        <c:varyColors val="0"/>
        <c:ser>
          <c:idx val="0"/>
          <c:order val="0"/>
          <c:tx>
            <c:strRef>
              <c:f>Sheet1!$B$1</c:f>
              <c:strCache>
                <c:ptCount val="1"/>
                <c:pt idx="0">
                  <c:v>Monthly Revenue Trend</c:v>
                </c:pt>
              </c:strCache>
            </c:strRef>
          </c:tx>
          <c:marker>
            <c:symbol val="none"/>
          </c:marker>
          <c:cat>
            <c:strRef>
              <c:f>Sheet1!$A$2:$A$7</c:f>
              <c:strCache>
                <c:ptCount val="6"/>
                <c:pt idx="0">
                  <c:v>January</c:v>
                </c:pt>
                <c:pt idx="1">
                  <c:v>February</c:v>
                </c:pt>
                <c:pt idx="2">
                  <c:v>March</c:v>
                </c:pt>
                <c:pt idx="3">
                  <c:v>April</c:v>
                </c:pt>
                <c:pt idx="4">
                  <c:v>May</c:v>
                </c:pt>
                <c:pt idx="5">
                  <c:v>June</c:v>
                </c:pt>
              </c:strCache>
            </c:strRef>
          </c:cat>
          <c:val>
            <c:numRef>
              <c:f>Sheet1!$B$2:$B$7</c:f>
              <c:numCache>
                <c:formatCode>General</c:formatCode>
                <c:ptCount val="6"/>
                <c:pt idx="0">
                  <c:v>81677.740000000005</c:v>
                </c:pt>
                <c:pt idx="1">
                  <c:v>76145.19</c:v>
                </c:pt>
                <c:pt idx="2">
                  <c:v>98834.68</c:v>
                </c:pt>
                <c:pt idx="3">
                  <c:v>118941.08</c:v>
                </c:pt>
                <c:pt idx="4">
                  <c:v>156727.76</c:v>
                </c:pt>
                <c:pt idx="5">
                  <c:v>166485.88</c:v>
                </c:pt>
              </c:numCache>
            </c:numRef>
          </c:val>
          <c:smooth val="0"/>
          <c:extLst>
            <c:ext xmlns:c16="http://schemas.microsoft.com/office/drawing/2014/chart" uri="{C3380CC4-5D6E-409C-BE32-E72D297353CC}">
              <c16:uniqueId val="{00000000-F802-4060-9461-1D582107AE5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0" sourceLinked="0"/>
        <c:majorTickMark val="out"/>
        <c:minorTickMark val="none"/>
        <c:tickLblPos val="nextTo"/>
        <c:txPr>
          <a:bodyPr/>
          <a:lstStyle/>
          <a:p>
            <a:pPr>
              <a:defRPr sz="9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3593592" cy="6858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09760" y="0"/>
            <a:ext cx="2679192" cy="68580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424160" y="0"/>
            <a:ext cx="1764792" cy="68580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8961120"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914400"/>
            <a:ext cx="7498079" cy="411480"/>
          </a:xfrm>
          <a:prstGeom prst="rect">
            <a:avLst/>
          </a:prstGeom>
          <a:noFill/>
        </p:spPr>
        <p:txBody>
          <a:bodyPr wrap="square" lIns="45720" tIns="27432" rIns="45720" bIns="27432">
            <a:spAutoFit/>
          </a:bodyPr>
          <a:lstStyle/>
          <a:p>
            <a:pPr>
              <a:spcAft>
                <a:spcPts val="800"/>
              </a:spcAft>
              <a:defRPr sz="1500" b="1">
                <a:solidFill>
                  <a:srgbClr val="EEB13F"/>
                </a:solidFill>
                <a:latin typeface="Aptos"/>
              </a:defRPr>
            </a:pPr>
            <a:r>
              <a:t>DATA ANALYTICS PROJECT</a:t>
            </a:r>
          </a:p>
        </p:txBody>
      </p:sp>
      <p:sp>
        <p:nvSpPr>
          <p:cNvPr id="8" name="TextBox 7"/>
          <p:cNvSpPr txBox="1"/>
          <p:nvPr/>
        </p:nvSpPr>
        <p:spPr>
          <a:xfrm>
            <a:off x="731520" y="1600200"/>
            <a:ext cx="7589520" cy="1463040"/>
          </a:xfrm>
          <a:prstGeom prst="rect">
            <a:avLst/>
          </a:prstGeom>
          <a:noFill/>
        </p:spPr>
        <p:txBody>
          <a:bodyPr wrap="square" lIns="45720" tIns="27432" rIns="45720" bIns="27432">
            <a:spAutoFit/>
          </a:bodyPr>
          <a:lstStyle/>
          <a:p>
            <a:pPr>
              <a:spcAft>
                <a:spcPts val="800"/>
              </a:spcAft>
              <a:defRPr sz="3400" b="1">
                <a:solidFill>
                  <a:srgbClr val="FFFFFF"/>
                </a:solidFill>
                <a:latin typeface="Aptos"/>
              </a:defRPr>
            </a:pPr>
            <a:r>
              <a:t>BRIGHT COFFEE SHOP</a:t>
            </a:r>
          </a:p>
          <a:p>
            <a:pPr>
              <a:spcAft>
                <a:spcPts val="800"/>
              </a:spcAft>
              <a:defRPr sz="3400" b="1">
                <a:solidFill>
                  <a:srgbClr val="FFFFFF"/>
                </a:solidFill>
                <a:latin typeface="Aptos"/>
              </a:defRPr>
            </a:pPr>
            <a:r>
              <a:t>SALES ANALYSIS</a:t>
            </a:r>
          </a:p>
        </p:txBody>
      </p:sp>
      <p:sp>
        <p:nvSpPr>
          <p:cNvPr id="9" name="TextBox 8"/>
          <p:cNvSpPr txBox="1"/>
          <p:nvPr/>
        </p:nvSpPr>
        <p:spPr>
          <a:xfrm>
            <a:off x="749808" y="3657600"/>
            <a:ext cx="7132320" cy="731520"/>
          </a:xfrm>
          <a:prstGeom prst="rect">
            <a:avLst/>
          </a:prstGeom>
          <a:noFill/>
        </p:spPr>
        <p:txBody>
          <a:bodyPr wrap="square" lIns="45720" tIns="27432" rIns="45720" bIns="27432">
            <a:spAutoFit/>
          </a:bodyPr>
          <a:lstStyle/>
          <a:p>
            <a:pPr>
              <a:spcAft>
                <a:spcPts val="800"/>
              </a:spcAft>
              <a:defRPr sz="1900" b="0">
                <a:solidFill>
                  <a:srgbClr val="DCE6F0"/>
                </a:solidFill>
                <a:latin typeface="Aptos"/>
              </a:defRPr>
            </a:pPr>
            <a:r>
              <a:t>Understanding sales performance from January to June 2023</a:t>
            </a:r>
          </a:p>
        </p:txBody>
      </p:sp>
      <p:sp>
        <p:nvSpPr>
          <p:cNvPr id="10" name="TextBox 9"/>
          <p:cNvSpPr txBox="1"/>
          <p:nvPr/>
        </p:nvSpPr>
        <p:spPr>
          <a:xfrm>
            <a:off x="749808" y="4983480"/>
            <a:ext cx="6858000" cy="411480"/>
          </a:xfrm>
          <a:prstGeom prst="rect">
            <a:avLst/>
          </a:prstGeom>
          <a:noFill/>
        </p:spPr>
        <p:txBody>
          <a:bodyPr wrap="square" lIns="45720" tIns="27432" rIns="45720" bIns="27432">
            <a:spAutoFit/>
          </a:bodyPr>
          <a:lstStyle/>
          <a:p>
            <a:pPr>
              <a:spcAft>
                <a:spcPts val="800"/>
              </a:spcAft>
              <a:defRPr sz="1500" b="1">
                <a:solidFill>
                  <a:srgbClr val="FFFFFF"/>
                </a:solidFill>
                <a:latin typeface="Aptos"/>
              </a:defRPr>
            </a:pPr>
            <a:r>
              <a:t>Project Presentation</a:t>
            </a:r>
          </a:p>
        </p:txBody>
      </p:sp>
      <p:sp>
        <p:nvSpPr>
          <p:cNvPr id="11" name="TextBox 10"/>
          <p:cNvSpPr txBox="1"/>
          <p:nvPr/>
        </p:nvSpPr>
        <p:spPr>
          <a:xfrm>
            <a:off x="749808" y="5715000"/>
            <a:ext cx="6858000" cy="332399"/>
          </a:xfrm>
          <a:prstGeom prst="rect">
            <a:avLst/>
          </a:prstGeom>
          <a:noFill/>
        </p:spPr>
        <p:txBody>
          <a:bodyPr wrap="square" lIns="45720" tIns="27432" rIns="45720" bIns="27432">
            <a:spAutoFit/>
          </a:bodyPr>
          <a:lstStyle/>
          <a:p>
            <a:r>
              <a:rPr dirty="0">
                <a:solidFill>
                  <a:srgbClr val="FFC000"/>
                </a:solidFill>
              </a:rPr>
              <a:t>Prepared by: Neo Kole</a:t>
            </a:r>
          </a:p>
        </p:txBody>
      </p:sp>
      <p:sp>
        <p:nvSpPr>
          <p:cNvPr id="12" name="TextBox 11"/>
          <p:cNvSpPr txBox="1"/>
          <p:nvPr/>
        </p:nvSpPr>
        <p:spPr>
          <a:xfrm>
            <a:off x="749808" y="6080760"/>
            <a:ext cx="6858000" cy="274320"/>
          </a:xfrm>
          <a:prstGeom prst="rect">
            <a:avLst/>
          </a:prstGeom>
          <a:noFill/>
        </p:spPr>
        <p:txBody>
          <a:bodyPr wrap="square" lIns="45720" tIns="27432" rIns="45720" bIns="27432">
            <a:spAutoFit/>
          </a:bodyPr>
          <a:lstStyle/>
          <a:p>
            <a:pPr>
              <a:spcAft>
                <a:spcPts val="800"/>
              </a:spcAft>
              <a:defRPr sz="1100" b="0">
                <a:solidFill>
                  <a:srgbClr val="BECDDC"/>
                </a:solidFill>
                <a:latin typeface="Aptos"/>
              </a:defRPr>
            </a:pPr>
            <a:r>
              <a:t>Tools: SQL • Excel • Databricks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Presentation Overview</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A clear walkthrough from business question to actionable findings.</a:t>
            </a:r>
          </a:p>
        </p:txBody>
      </p:sp>
      <p:sp>
        <p:nvSpPr>
          <p:cNvPr id="5" name="TextBox 4"/>
          <p:cNvSpPr txBox="1"/>
          <p:nvPr/>
        </p:nvSpPr>
        <p:spPr>
          <a:xfrm>
            <a:off x="777240" y="1417320"/>
            <a:ext cx="5212080" cy="4389120"/>
          </a:xfrm>
          <a:prstGeom prst="rect">
            <a:avLst/>
          </a:prstGeom>
          <a:noFill/>
        </p:spPr>
        <p:txBody>
          <a:bodyPr wrap="square" lIns="109728" rIns="73152">
            <a:spAutoFit/>
          </a:bodyPr>
          <a:lstStyle/>
          <a:p>
            <a:pPr>
              <a:spcAft>
                <a:spcPts val="1300"/>
              </a:spcAft>
              <a:defRPr sz="1800">
                <a:solidFill>
                  <a:srgbClr val="273341"/>
                </a:solidFill>
                <a:latin typeface="Aptos"/>
              </a:defRPr>
            </a:pPr>
            <a:r>
              <a:t>•  Business context and project objectives</a:t>
            </a:r>
          </a:p>
          <a:p>
            <a:pPr>
              <a:spcAft>
                <a:spcPts val="1300"/>
              </a:spcAft>
              <a:defRPr sz="1800">
                <a:solidFill>
                  <a:srgbClr val="273341"/>
                </a:solidFill>
                <a:latin typeface="Aptos"/>
              </a:defRPr>
            </a:pPr>
            <a:r>
              <a:t>•  Dataset overview and data preparation</a:t>
            </a:r>
          </a:p>
          <a:p>
            <a:pPr>
              <a:spcAft>
                <a:spcPts val="1300"/>
              </a:spcAft>
              <a:defRPr sz="1800">
                <a:solidFill>
                  <a:srgbClr val="273341"/>
                </a:solidFill>
                <a:latin typeface="Aptos"/>
              </a:defRPr>
            </a:pPr>
            <a:r>
              <a:t>•  Tools and analytical approach</a:t>
            </a:r>
          </a:p>
          <a:p>
            <a:pPr>
              <a:spcAft>
                <a:spcPts val="1300"/>
              </a:spcAft>
              <a:defRPr sz="1800">
                <a:solidFill>
                  <a:srgbClr val="273341"/>
                </a:solidFill>
                <a:latin typeface="Aptos"/>
              </a:defRPr>
            </a:pPr>
            <a:r>
              <a:t>•  Key performance indicators</a:t>
            </a:r>
          </a:p>
          <a:p>
            <a:pPr>
              <a:spcAft>
                <a:spcPts val="1300"/>
              </a:spcAft>
              <a:defRPr sz="1800">
                <a:solidFill>
                  <a:srgbClr val="273341"/>
                </a:solidFill>
                <a:latin typeface="Aptos"/>
              </a:defRPr>
            </a:pPr>
            <a:r>
              <a:t>•  Sales trends and visual analysis</a:t>
            </a:r>
          </a:p>
          <a:p>
            <a:pPr>
              <a:spcAft>
                <a:spcPts val="1300"/>
              </a:spcAft>
              <a:defRPr sz="1800">
                <a:solidFill>
                  <a:srgbClr val="273341"/>
                </a:solidFill>
                <a:latin typeface="Aptos"/>
              </a:defRPr>
            </a:pPr>
            <a:r>
              <a:t>•  Recommendations, limitations and conclusion</a:t>
            </a:r>
          </a:p>
        </p:txBody>
      </p:sp>
      <p:sp>
        <p:nvSpPr>
          <p:cNvPr id="6" name="Rounded Rectangle 5"/>
          <p:cNvSpPr/>
          <p:nvPr/>
        </p:nvSpPr>
        <p:spPr>
          <a:xfrm>
            <a:off x="6537960" y="164592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37960" y="1645920"/>
            <a:ext cx="82296" cy="11430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9128" y="181051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REPORTING PERIOD</a:t>
            </a:r>
          </a:p>
        </p:txBody>
      </p:sp>
      <p:sp>
        <p:nvSpPr>
          <p:cNvPr id="9" name="TextBox 8"/>
          <p:cNvSpPr txBox="1"/>
          <p:nvPr/>
        </p:nvSpPr>
        <p:spPr>
          <a:xfrm>
            <a:off x="6739128" y="221284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Jan – Jun 2023</a:t>
            </a:r>
          </a:p>
        </p:txBody>
      </p:sp>
      <p:sp>
        <p:nvSpPr>
          <p:cNvPr id="10" name="Rounded Rectangle 9"/>
          <p:cNvSpPr/>
          <p:nvPr/>
        </p:nvSpPr>
        <p:spPr>
          <a:xfrm>
            <a:off x="6537960" y="306324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7960" y="3063240"/>
            <a:ext cx="82296" cy="11430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9128" y="322783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ANALYSIS FOCUS</a:t>
            </a:r>
          </a:p>
        </p:txBody>
      </p:sp>
      <p:sp>
        <p:nvSpPr>
          <p:cNvPr id="13" name="TextBox 12"/>
          <p:cNvSpPr txBox="1"/>
          <p:nvPr/>
        </p:nvSpPr>
        <p:spPr>
          <a:xfrm>
            <a:off x="6739128" y="363016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Sales performance</a:t>
            </a:r>
          </a:p>
        </p:txBody>
      </p:sp>
      <p:sp>
        <p:nvSpPr>
          <p:cNvPr id="14" name="Rounded Rectangle 13"/>
          <p:cNvSpPr/>
          <p:nvPr/>
        </p:nvSpPr>
        <p:spPr>
          <a:xfrm>
            <a:off x="6537960" y="448056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37960" y="4480560"/>
            <a:ext cx="82296" cy="1143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464515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OUTPUT</a:t>
            </a:r>
          </a:p>
        </p:txBody>
      </p:sp>
      <p:sp>
        <p:nvSpPr>
          <p:cNvPr id="17" name="TextBox 16"/>
          <p:cNvSpPr txBox="1"/>
          <p:nvPr/>
        </p:nvSpPr>
        <p:spPr>
          <a:xfrm>
            <a:off x="6739128" y="504748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Dashboard + insights</a:t>
            </a:r>
          </a:p>
        </p:txBody>
      </p:sp>
      <p:sp>
        <p:nvSpPr>
          <p:cNvPr id="18" name="Rectangle 17"/>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1. Business Context</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Why analyse coffee shop sales?</a:t>
            </a:r>
          </a:p>
        </p:txBody>
      </p:sp>
      <p:sp>
        <p:nvSpPr>
          <p:cNvPr id="5" name="TextBox 4"/>
          <p:cNvSpPr txBox="1"/>
          <p:nvPr/>
        </p:nvSpPr>
        <p:spPr>
          <a:xfrm>
            <a:off x="731520" y="1417320"/>
            <a:ext cx="5303520" cy="731520"/>
          </a:xfrm>
          <a:prstGeom prst="rect">
            <a:avLst/>
          </a:prstGeom>
          <a:noFill/>
        </p:spPr>
        <p:txBody>
          <a:bodyPr wrap="square" lIns="45720" tIns="27432" rIns="45720" bIns="27432">
            <a:spAutoFit/>
          </a:bodyPr>
          <a:lstStyle/>
          <a:p>
            <a:pPr>
              <a:spcAft>
                <a:spcPts val="800"/>
              </a:spcAft>
              <a:defRPr sz="1900" b="0">
                <a:solidFill>
                  <a:srgbClr val="273341"/>
                </a:solidFill>
                <a:latin typeface="Aptos"/>
              </a:defRPr>
            </a:pPr>
            <a:r>
              <a:t>Coffee shops generate transactions throughout the day, across products and locations. Sales data can help managers understand what is working and where attention may be needed.</a:t>
            </a:r>
          </a:p>
        </p:txBody>
      </p:sp>
      <p:sp>
        <p:nvSpPr>
          <p:cNvPr id="6" name="TextBox 5"/>
          <p:cNvSpPr txBox="1"/>
          <p:nvPr/>
        </p:nvSpPr>
        <p:spPr>
          <a:xfrm>
            <a:off x="731520" y="2743200"/>
            <a:ext cx="5029200" cy="411480"/>
          </a:xfrm>
          <a:prstGeom prst="rect">
            <a:avLst/>
          </a:prstGeom>
          <a:noFill/>
        </p:spPr>
        <p:txBody>
          <a:bodyPr wrap="square" lIns="45720" tIns="27432" rIns="45720" bIns="27432">
            <a:spAutoFit/>
          </a:bodyPr>
          <a:lstStyle/>
          <a:p>
            <a:pPr>
              <a:spcAft>
                <a:spcPts val="800"/>
              </a:spcAft>
              <a:defRPr sz="1800" b="1">
                <a:solidFill>
                  <a:srgbClr val="12253F"/>
                </a:solidFill>
                <a:latin typeface="Aptos"/>
              </a:defRPr>
            </a:pPr>
            <a:r>
              <a:t>Business questions</a:t>
            </a:r>
          </a:p>
        </p:txBody>
      </p:sp>
      <p:sp>
        <p:nvSpPr>
          <p:cNvPr id="7" name="TextBox 6"/>
          <p:cNvSpPr txBox="1"/>
          <p:nvPr/>
        </p:nvSpPr>
        <p:spPr>
          <a:xfrm>
            <a:off x="777240" y="3246120"/>
            <a:ext cx="5120640" cy="2468880"/>
          </a:xfrm>
          <a:prstGeom prst="rect">
            <a:avLst/>
          </a:prstGeom>
          <a:noFill/>
        </p:spPr>
        <p:txBody>
          <a:bodyPr wrap="square" lIns="109728" rIns="73152">
            <a:spAutoFit/>
          </a:bodyPr>
          <a:lstStyle/>
          <a:p>
            <a:pPr>
              <a:spcAft>
                <a:spcPts val="1300"/>
              </a:spcAft>
              <a:defRPr sz="1500">
                <a:solidFill>
                  <a:srgbClr val="273341"/>
                </a:solidFill>
                <a:latin typeface="Aptos"/>
              </a:defRPr>
            </a:pPr>
            <a:r>
              <a:t>•  How much revenue was generated during the period?</a:t>
            </a:r>
          </a:p>
          <a:p>
            <a:pPr>
              <a:spcAft>
                <a:spcPts val="1300"/>
              </a:spcAft>
              <a:defRPr sz="1500">
                <a:solidFill>
                  <a:srgbClr val="273341"/>
                </a:solidFill>
                <a:latin typeface="Aptos"/>
              </a:defRPr>
            </a:pPr>
            <a:r>
              <a:t>•  How did revenue change month by month?</a:t>
            </a:r>
          </a:p>
          <a:p>
            <a:pPr>
              <a:spcAft>
                <a:spcPts val="1300"/>
              </a:spcAft>
              <a:defRPr sz="1500">
                <a:solidFill>
                  <a:srgbClr val="273341"/>
                </a:solidFill>
                <a:latin typeface="Aptos"/>
              </a:defRPr>
            </a:pPr>
            <a:r>
              <a:t>•  How can sales be compared by store, product category and time?</a:t>
            </a:r>
          </a:p>
          <a:p>
            <a:pPr>
              <a:spcAft>
                <a:spcPts val="1300"/>
              </a:spcAft>
              <a:defRPr sz="1500">
                <a:solidFill>
                  <a:srgbClr val="273341"/>
                </a:solidFill>
                <a:latin typeface="Aptos"/>
              </a:defRPr>
            </a:pPr>
            <a:r>
              <a:t>•  What decisions could improve sales planning?</a:t>
            </a:r>
          </a:p>
        </p:txBody>
      </p:sp>
      <p:sp>
        <p:nvSpPr>
          <p:cNvPr id="8" name="Rounded Rectangle 7"/>
          <p:cNvSpPr/>
          <p:nvPr/>
        </p:nvSpPr>
        <p:spPr>
          <a:xfrm>
            <a:off x="6400800" y="164592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645920"/>
            <a:ext cx="82296" cy="1143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81051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SCOPE</a:t>
            </a:r>
          </a:p>
        </p:txBody>
      </p:sp>
      <p:sp>
        <p:nvSpPr>
          <p:cNvPr id="11" name="TextBox 10"/>
          <p:cNvSpPr txBox="1"/>
          <p:nvPr/>
        </p:nvSpPr>
        <p:spPr>
          <a:xfrm>
            <a:off x="6601968" y="221284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6 months</a:t>
            </a:r>
          </a:p>
        </p:txBody>
      </p:sp>
      <p:sp>
        <p:nvSpPr>
          <p:cNvPr id="12" name="Rounded Rectangle 11"/>
          <p:cNvSpPr/>
          <p:nvPr/>
        </p:nvSpPr>
        <p:spPr>
          <a:xfrm>
            <a:off x="6400800" y="306324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3063240"/>
            <a:ext cx="82296" cy="11430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22783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LOCATIONS</a:t>
            </a:r>
          </a:p>
        </p:txBody>
      </p:sp>
      <p:sp>
        <p:nvSpPr>
          <p:cNvPr id="15" name="TextBox 14"/>
          <p:cNvSpPr txBox="1"/>
          <p:nvPr/>
        </p:nvSpPr>
        <p:spPr>
          <a:xfrm>
            <a:off x="6601968" y="363016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3 stores</a:t>
            </a:r>
          </a:p>
        </p:txBody>
      </p:sp>
      <p:sp>
        <p:nvSpPr>
          <p:cNvPr id="16" name="Rounded Rectangle 15"/>
          <p:cNvSpPr/>
          <p:nvPr/>
        </p:nvSpPr>
        <p:spPr>
          <a:xfrm>
            <a:off x="6400800" y="4480560"/>
            <a:ext cx="438912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0" y="4480560"/>
            <a:ext cx="82296" cy="11430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01968" y="4645152"/>
            <a:ext cx="40690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PRODUCT RANGE</a:t>
            </a:r>
          </a:p>
        </p:txBody>
      </p:sp>
      <p:sp>
        <p:nvSpPr>
          <p:cNvPr id="19" name="TextBox 18"/>
          <p:cNvSpPr txBox="1"/>
          <p:nvPr/>
        </p:nvSpPr>
        <p:spPr>
          <a:xfrm>
            <a:off x="6601968" y="5047488"/>
            <a:ext cx="40690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80 products</a:t>
            </a:r>
          </a:p>
        </p:txBody>
      </p:sp>
      <p:sp>
        <p:nvSpPr>
          <p:cNvPr id="20" name="Rectangle 19"/>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2. Project Objectives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The project turns transaction-level data into useful business information.</a:t>
            </a:r>
          </a:p>
        </p:txBody>
      </p:sp>
      <p:sp>
        <p:nvSpPr>
          <p:cNvPr id="5" name="TextBox 4"/>
          <p:cNvSpPr txBox="1"/>
          <p:nvPr/>
        </p:nvSpPr>
        <p:spPr>
          <a:xfrm>
            <a:off x="822960" y="1417320"/>
            <a:ext cx="10515600" cy="4389120"/>
          </a:xfrm>
          <a:prstGeom prst="rect">
            <a:avLst/>
          </a:prstGeom>
          <a:noFill/>
        </p:spPr>
        <p:txBody>
          <a:bodyPr wrap="square" lIns="109728" rIns="73152">
            <a:spAutoFit/>
          </a:bodyPr>
          <a:lstStyle/>
          <a:p>
            <a:pPr>
              <a:spcAft>
                <a:spcPts val="1300"/>
              </a:spcAft>
              <a:defRPr sz="1900">
                <a:solidFill>
                  <a:srgbClr val="273341"/>
                </a:solidFill>
                <a:latin typeface="Aptos"/>
              </a:defRPr>
            </a:pPr>
            <a:r>
              <a:t>•  Explore the sales dataset and understand its structure.</a:t>
            </a:r>
          </a:p>
          <a:p>
            <a:pPr>
              <a:spcAft>
                <a:spcPts val="1300"/>
              </a:spcAft>
              <a:defRPr sz="1900">
                <a:solidFill>
                  <a:srgbClr val="273341"/>
                </a:solidFill>
                <a:latin typeface="Aptos"/>
              </a:defRPr>
            </a:pPr>
            <a:r>
              <a:t>•  Prepare and process the data for analysis.</a:t>
            </a:r>
          </a:p>
          <a:p>
            <a:pPr>
              <a:spcAft>
                <a:spcPts val="1300"/>
              </a:spcAft>
              <a:defRPr sz="1900">
                <a:solidFill>
                  <a:srgbClr val="273341"/>
                </a:solidFill>
                <a:latin typeface="Aptos"/>
              </a:defRPr>
            </a:pPr>
            <a:r>
              <a:t>•  Use SQL to calculate sales measures and summarise results.</a:t>
            </a:r>
          </a:p>
          <a:p>
            <a:pPr>
              <a:spcAft>
                <a:spcPts val="1300"/>
              </a:spcAft>
              <a:defRPr sz="1900">
                <a:solidFill>
                  <a:srgbClr val="273341"/>
                </a:solidFill>
                <a:latin typeface="Aptos"/>
              </a:defRPr>
            </a:pPr>
            <a:r>
              <a:t>•  Use Excel pivot tables and charts to compare performance.</a:t>
            </a:r>
          </a:p>
          <a:p>
            <a:pPr>
              <a:spcAft>
                <a:spcPts val="1300"/>
              </a:spcAft>
              <a:defRPr sz="1900">
                <a:solidFill>
                  <a:srgbClr val="273341"/>
                </a:solidFill>
                <a:latin typeface="Aptos"/>
              </a:defRPr>
            </a:pPr>
            <a:r>
              <a:t>•  Build a dashboard that presents the main KPIs and trends.</a:t>
            </a:r>
          </a:p>
          <a:p>
            <a:pPr>
              <a:spcAft>
                <a:spcPts val="1300"/>
              </a:spcAft>
              <a:defRPr sz="1900">
                <a:solidFill>
                  <a:srgbClr val="273341"/>
                </a:solidFill>
                <a:latin typeface="Aptos"/>
              </a:defRPr>
            </a:pPr>
            <a:r>
              <a:t>•  Translate the analysis into practical recommendations.</a:t>
            </a:r>
          </a:p>
        </p:txBody>
      </p:sp>
      <p:sp>
        <p:nvSpPr>
          <p:cNvPr id="6" name="Rectangle 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3. Dataset Overview</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The dataset covers coffee shop transactions from 1 January to 30 June 2023.</a:t>
            </a:r>
          </a:p>
        </p:txBody>
      </p:sp>
      <p:sp>
        <p:nvSpPr>
          <p:cNvPr id="5" name="Rounded Rectangle 4"/>
          <p:cNvSpPr/>
          <p:nvPr/>
        </p:nvSpPr>
        <p:spPr>
          <a:xfrm>
            <a:off x="731520" y="1417320"/>
            <a:ext cx="246888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82296" cy="1143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581912"/>
            <a:ext cx="214884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TRANSACTION ROWS</a:t>
            </a:r>
          </a:p>
        </p:txBody>
      </p:sp>
      <p:sp>
        <p:nvSpPr>
          <p:cNvPr id="8" name="TextBox 7"/>
          <p:cNvSpPr txBox="1"/>
          <p:nvPr/>
        </p:nvSpPr>
        <p:spPr>
          <a:xfrm>
            <a:off x="932688" y="1984248"/>
            <a:ext cx="214884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149,116</a:t>
            </a:r>
          </a:p>
        </p:txBody>
      </p:sp>
      <p:sp>
        <p:nvSpPr>
          <p:cNvPr id="9" name="Rounded Rectangle 8"/>
          <p:cNvSpPr/>
          <p:nvPr/>
        </p:nvSpPr>
        <p:spPr>
          <a:xfrm>
            <a:off x="3429000" y="1417320"/>
            <a:ext cx="246888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29000" y="1417320"/>
            <a:ext cx="82296" cy="11430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0168" y="1581912"/>
            <a:ext cx="214884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PRODUCTS</a:t>
            </a:r>
          </a:p>
        </p:txBody>
      </p:sp>
      <p:sp>
        <p:nvSpPr>
          <p:cNvPr id="12" name="TextBox 11"/>
          <p:cNvSpPr txBox="1"/>
          <p:nvPr/>
        </p:nvSpPr>
        <p:spPr>
          <a:xfrm>
            <a:off x="3630168" y="1984248"/>
            <a:ext cx="214884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80</a:t>
            </a:r>
          </a:p>
        </p:txBody>
      </p:sp>
      <p:sp>
        <p:nvSpPr>
          <p:cNvPr id="13" name="Rounded Rectangle 12"/>
          <p:cNvSpPr/>
          <p:nvPr/>
        </p:nvSpPr>
        <p:spPr>
          <a:xfrm>
            <a:off x="6126480" y="1417320"/>
            <a:ext cx="246888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80" y="1417320"/>
            <a:ext cx="82296" cy="11430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27648" y="1581912"/>
            <a:ext cx="214884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STORES</a:t>
            </a:r>
          </a:p>
        </p:txBody>
      </p:sp>
      <p:sp>
        <p:nvSpPr>
          <p:cNvPr id="16" name="TextBox 15"/>
          <p:cNvSpPr txBox="1"/>
          <p:nvPr/>
        </p:nvSpPr>
        <p:spPr>
          <a:xfrm>
            <a:off x="6327648" y="1984248"/>
            <a:ext cx="214884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3</a:t>
            </a:r>
          </a:p>
        </p:txBody>
      </p:sp>
      <p:sp>
        <p:nvSpPr>
          <p:cNvPr id="17" name="Rounded Rectangle 16"/>
          <p:cNvSpPr/>
          <p:nvPr/>
        </p:nvSpPr>
        <p:spPr>
          <a:xfrm>
            <a:off x="8823960" y="1417320"/>
            <a:ext cx="246888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823960" y="1417320"/>
            <a:ext cx="82296" cy="1143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25128" y="1581912"/>
            <a:ext cx="214884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CATEGORIES</a:t>
            </a:r>
          </a:p>
        </p:txBody>
      </p:sp>
      <p:sp>
        <p:nvSpPr>
          <p:cNvPr id="20" name="TextBox 19"/>
          <p:cNvSpPr txBox="1"/>
          <p:nvPr/>
        </p:nvSpPr>
        <p:spPr>
          <a:xfrm>
            <a:off x="9025128" y="1984248"/>
            <a:ext cx="214884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9</a:t>
            </a:r>
          </a:p>
        </p:txBody>
      </p:sp>
      <p:sp>
        <p:nvSpPr>
          <p:cNvPr id="21" name="TextBox 20"/>
          <p:cNvSpPr txBox="1"/>
          <p:nvPr/>
        </p:nvSpPr>
        <p:spPr>
          <a:xfrm>
            <a:off x="822960" y="2971800"/>
            <a:ext cx="5029200" cy="411480"/>
          </a:xfrm>
          <a:prstGeom prst="rect">
            <a:avLst/>
          </a:prstGeom>
          <a:noFill/>
        </p:spPr>
        <p:txBody>
          <a:bodyPr wrap="square" lIns="45720" tIns="27432" rIns="45720" bIns="27432">
            <a:spAutoFit/>
          </a:bodyPr>
          <a:lstStyle/>
          <a:p>
            <a:pPr>
              <a:spcAft>
                <a:spcPts val="800"/>
              </a:spcAft>
              <a:defRPr sz="1800" b="1">
                <a:solidFill>
                  <a:srgbClr val="12253F"/>
                </a:solidFill>
                <a:latin typeface="Aptos"/>
              </a:defRPr>
            </a:pPr>
            <a:r>
              <a:t>Main fields</a:t>
            </a:r>
          </a:p>
        </p:txBody>
      </p:sp>
      <p:sp>
        <p:nvSpPr>
          <p:cNvPr id="22" name="TextBox 21"/>
          <p:cNvSpPr txBox="1"/>
          <p:nvPr/>
        </p:nvSpPr>
        <p:spPr>
          <a:xfrm>
            <a:off x="822960" y="3474720"/>
            <a:ext cx="5029200" cy="2103120"/>
          </a:xfrm>
          <a:prstGeom prst="rect">
            <a:avLst/>
          </a:prstGeom>
          <a:noFill/>
        </p:spPr>
        <p:txBody>
          <a:bodyPr wrap="square" lIns="109728" rIns="73152">
            <a:spAutoFit/>
          </a:bodyPr>
          <a:lstStyle/>
          <a:p>
            <a:pPr>
              <a:spcAft>
                <a:spcPts val="1300"/>
              </a:spcAft>
              <a:defRPr sz="1500">
                <a:solidFill>
                  <a:srgbClr val="273341"/>
                </a:solidFill>
                <a:latin typeface="Aptos"/>
              </a:defRPr>
            </a:pPr>
            <a:r>
              <a:t>•  Transaction ID, date and time</a:t>
            </a:r>
          </a:p>
          <a:p>
            <a:pPr>
              <a:spcAft>
                <a:spcPts val="1300"/>
              </a:spcAft>
              <a:defRPr sz="1500">
                <a:solidFill>
                  <a:srgbClr val="273341"/>
                </a:solidFill>
                <a:latin typeface="Aptos"/>
              </a:defRPr>
            </a:pPr>
            <a:r>
              <a:t>•  Quantity and unit price</a:t>
            </a:r>
          </a:p>
          <a:p>
            <a:pPr>
              <a:spcAft>
                <a:spcPts val="1300"/>
              </a:spcAft>
              <a:defRPr sz="1500">
                <a:solidFill>
                  <a:srgbClr val="273341"/>
                </a:solidFill>
                <a:latin typeface="Aptos"/>
              </a:defRPr>
            </a:pPr>
            <a:r>
              <a:t>•  Store ID and store location</a:t>
            </a:r>
          </a:p>
          <a:p>
            <a:pPr>
              <a:spcAft>
                <a:spcPts val="1300"/>
              </a:spcAft>
              <a:defRPr sz="1500">
                <a:solidFill>
                  <a:srgbClr val="273341"/>
                </a:solidFill>
                <a:latin typeface="Aptos"/>
              </a:defRPr>
            </a:pPr>
            <a:r>
              <a:t>•  Product ID, category, type and detail</a:t>
            </a:r>
          </a:p>
        </p:txBody>
      </p:sp>
      <p:sp>
        <p:nvSpPr>
          <p:cNvPr id="23" name="TextBox 22"/>
          <p:cNvSpPr txBox="1"/>
          <p:nvPr/>
        </p:nvSpPr>
        <p:spPr>
          <a:xfrm>
            <a:off x="6400800" y="2971800"/>
            <a:ext cx="4663440" cy="411480"/>
          </a:xfrm>
          <a:prstGeom prst="rect">
            <a:avLst/>
          </a:prstGeom>
          <a:noFill/>
        </p:spPr>
        <p:txBody>
          <a:bodyPr wrap="square" lIns="45720" tIns="27432" rIns="45720" bIns="27432">
            <a:spAutoFit/>
          </a:bodyPr>
          <a:lstStyle/>
          <a:p>
            <a:pPr>
              <a:spcAft>
                <a:spcPts val="800"/>
              </a:spcAft>
              <a:defRPr sz="1800" b="1">
                <a:solidFill>
                  <a:srgbClr val="12253F"/>
                </a:solidFill>
                <a:latin typeface="Aptos"/>
              </a:defRPr>
            </a:pPr>
            <a:r>
              <a:t>Analysis period</a:t>
            </a:r>
          </a:p>
        </p:txBody>
      </p:sp>
      <p:sp>
        <p:nvSpPr>
          <p:cNvPr id="24" name="TextBox 23"/>
          <p:cNvSpPr txBox="1"/>
          <p:nvPr/>
        </p:nvSpPr>
        <p:spPr>
          <a:xfrm>
            <a:off x="6400800" y="3520440"/>
            <a:ext cx="4389120" cy="777240"/>
          </a:xfrm>
          <a:prstGeom prst="rect">
            <a:avLst/>
          </a:prstGeom>
          <a:noFill/>
        </p:spPr>
        <p:txBody>
          <a:bodyPr wrap="square" lIns="45720" tIns="27432" rIns="45720" bIns="27432">
            <a:spAutoFit/>
          </a:bodyPr>
          <a:lstStyle/>
          <a:p>
            <a:pPr>
              <a:spcAft>
                <a:spcPts val="800"/>
              </a:spcAft>
              <a:defRPr sz="1900" b="1">
                <a:solidFill>
                  <a:srgbClr val="1E9D97"/>
                </a:solidFill>
                <a:latin typeface="Aptos"/>
              </a:defRPr>
            </a:pPr>
            <a:r>
              <a:t>January – June 2023</a:t>
            </a:r>
          </a:p>
          <a:p>
            <a:pPr>
              <a:spcAft>
                <a:spcPts val="800"/>
              </a:spcAft>
              <a:defRPr sz="1900" b="1">
                <a:solidFill>
                  <a:srgbClr val="1E9D97"/>
                </a:solidFill>
                <a:latin typeface="Aptos"/>
              </a:defRPr>
            </a:pPr>
            <a:r>
              <a:t>Six complete calendar months</a:t>
            </a:r>
          </a:p>
        </p:txBody>
      </p:sp>
      <p:sp>
        <p:nvSpPr>
          <p:cNvPr id="25" name="TextBox 24"/>
          <p:cNvSpPr txBox="1"/>
          <p:nvPr/>
        </p:nvSpPr>
        <p:spPr>
          <a:xfrm>
            <a:off x="6400800" y="4572000"/>
            <a:ext cx="4389120" cy="731520"/>
          </a:xfrm>
          <a:prstGeom prst="rect">
            <a:avLst/>
          </a:prstGeom>
          <a:noFill/>
        </p:spPr>
        <p:txBody>
          <a:bodyPr wrap="square" lIns="45720" tIns="27432" rIns="45720" bIns="27432">
            <a:spAutoFit/>
          </a:bodyPr>
          <a:lstStyle/>
          <a:p>
            <a:pPr>
              <a:spcAft>
                <a:spcPts val="800"/>
              </a:spcAft>
              <a:defRPr sz="1500" b="0">
                <a:solidFill>
                  <a:srgbClr val="637180"/>
                </a:solidFill>
                <a:latin typeface="Aptos"/>
              </a:defRPr>
            </a:pPr>
            <a:r>
              <a:t>The dataset supports analysis by time, store, product and category.</a:t>
            </a:r>
          </a:p>
        </p:txBody>
      </p:sp>
      <p:sp>
        <p:nvSpPr>
          <p:cNvPr id="26" name="Rectangle 2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4. Data Preparation</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Preparing consistent data is essential before calculating KPIs.</a:t>
            </a:r>
          </a:p>
        </p:txBody>
      </p:sp>
      <p:sp>
        <p:nvSpPr>
          <p:cNvPr id="5" name="Rounded Rectangle 4"/>
          <p:cNvSpPr/>
          <p:nvPr/>
        </p:nvSpPr>
        <p:spPr>
          <a:xfrm>
            <a:off x="777240" y="1325880"/>
            <a:ext cx="1005840" cy="6858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325880"/>
            <a:ext cx="82296" cy="6858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490472"/>
            <a:ext cx="68580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01</a:t>
            </a:r>
          </a:p>
        </p:txBody>
      </p:sp>
      <p:sp>
        <p:nvSpPr>
          <p:cNvPr id="8" name="TextBox 7"/>
          <p:cNvSpPr txBox="1"/>
          <p:nvPr/>
        </p:nvSpPr>
        <p:spPr>
          <a:xfrm>
            <a:off x="978408" y="1892807"/>
            <a:ext cx="68580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9" name="TextBox 8"/>
          <p:cNvSpPr txBox="1"/>
          <p:nvPr/>
        </p:nvSpPr>
        <p:spPr>
          <a:xfrm>
            <a:off x="2011680" y="1353312"/>
            <a:ext cx="1828800" cy="36576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Load</a:t>
            </a:r>
          </a:p>
        </p:txBody>
      </p:sp>
      <p:sp>
        <p:nvSpPr>
          <p:cNvPr id="10" name="TextBox 9"/>
          <p:cNvSpPr txBox="1"/>
          <p:nvPr/>
        </p:nvSpPr>
        <p:spPr>
          <a:xfrm>
            <a:off x="3840480" y="1344168"/>
            <a:ext cx="7040880" cy="50292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Import the source CSV into the analysis environment.</a:t>
            </a:r>
          </a:p>
        </p:txBody>
      </p:sp>
      <p:sp>
        <p:nvSpPr>
          <p:cNvPr id="11" name="Rounded Rectangle 10"/>
          <p:cNvSpPr/>
          <p:nvPr/>
        </p:nvSpPr>
        <p:spPr>
          <a:xfrm>
            <a:off x="777240" y="2286000"/>
            <a:ext cx="1005840" cy="6858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286000"/>
            <a:ext cx="82296" cy="6858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2450592"/>
            <a:ext cx="68580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02</a:t>
            </a:r>
          </a:p>
        </p:txBody>
      </p:sp>
      <p:sp>
        <p:nvSpPr>
          <p:cNvPr id="14" name="TextBox 13"/>
          <p:cNvSpPr txBox="1"/>
          <p:nvPr/>
        </p:nvSpPr>
        <p:spPr>
          <a:xfrm>
            <a:off x="978408" y="2852928"/>
            <a:ext cx="68580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15" name="TextBox 14"/>
          <p:cNvSpPr txBox="1"/>
          <p:nvPr/>
        </p:nvSpPr>
        <p:spPr>
          <a:xfrm>
            <a:off x="2011680" y="2313432"/>
            <a:ext cx="1828800" cy="36576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Inspect</a:t>
            </a:r>
          </a:p>
        </p:txBody>
      </p:sp>
      <p:sp>
        <p:nvSpPr>
          <p:cNvPr id="16" name="TextBox 15"/>
          <p:cNvSpPr txBox="1"/>
          <p:nvPr/>
        </p:nvSpPr>
        <p:spPr>
          <a:xfrm>
            <a:off x="3840480" y="2304288"/>
            <a:ext cx="7040880" cy="50292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Review columns, data types, dates, quantities and prices.</a:t>
            </a:r>
          </a:p>
        </p:txBody>
      </p:sp>
      <p:sp>
        <p:nvSpPr>
          <p:cNvPr id="17" name="Rounded Rectangle 16"/>
          <p:cNvSpPr/>
          <p:nvPr/>
        </p:nvSpPr>
        <p:spPr>
          <a:xfrm>
            <a:off x="777240" y="3246120"/>
            <a:ext cx="1005840" cy="6858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3246120"/>
            <a:ext cx="82296" cy="6858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3410712"/>
            <a:ext cx="68580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03</a:t>
            </a:r>
          </a:p>
        </p:txBody>
      </p:sp>
      <p:sp>
        <p:nvSpPr>
          <p:cNvPr id="20" name="TextBox 19"/>
          <p:cNvSpPr txBox="1"/>
          <p:nvPr/>
        </p:nvSpPr>
        <p:spPr>
          <a:xfrm>
            <a:off x="978408" y="3813048"/>
            <a:ext cx="68580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21" name="TextBox 20"/>
          <p:cNvSpPr txBox="1"/>
          <p:nvPr/>
        </p:nvSpPr>
        <p:spPr>
          <a:xfrm>
            <a:off x="2011680" y="3273551"/>
            <a:ext cx="1828800" cy="36576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Clean</a:t>
            </a:r>
          </a:p>
        </p:txBody>
      </p:sp>
      <p:sp>
        <p:nvSpPr>
          <p:cNvPr id="22" name="TextBox 21"/>
          <p:cNvSpPr txBox="1"/>
          <p:nvPr/>
        </p:nvSpPr>
        <p:spPr>
          <a:xfrm>
            <a:off x="3840480" y="3264408"/>
            <a:ext cx="7040880" cy="50292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Check formatting and handle price representation consistently.</a:t>
            </a:r>
          </a:p>
        </p:txBody>
      </p:sp>
      <p:sp>
        <p:nvSpPr>
          <p:cNvPr id="23" name="Rounded Rectangle 22"/>
          <p:cNvSpPr/>
          <p:nvPr/>
        </p:nvSpPr>
        <p:spPr>
          <a:xfrm>
            <a:off x="777240" y="4206240"/>
            <a:ext cx="1005840" cy="6858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4206240"/>
            <a:ext cx="82296" cy="6858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4370832"/>
            <a:ext cx="68580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04</a:t>
            </a:r>
          </a:p>
        </p:txBody>
      </p:sp>
      <p:sp>
        <p:nvSpPr>
          <p:cNvPr id="26" name="TextBox 25"/>
          <p:cNvSpPr txBox="1"/>
          <p:nvPr/>
        </p:nvSpPr>
        <p:spPr>
          <a:xfrm>
            <a:off x="978408" y="4773168"/>
            <a:ext cx="68580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27" name="TextBox 26"/>
          <p:cNvSpPr txBox="1"/>
          <p:nvPr/>
        </p:nvSpPr>
        <p:spPr>
          <a:xfrm>
            <a:off x="2011680" y="4233672"/>
            <a:ext cx="1828800" cy="36576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Transform</a:t>
            </a:r>
          </a:p>
        </p:txBody>
      </p:sp>
      <p:sp>
        <p:nvSpPr>
          <p:cNvPr id="28" name="TextBox 27"/>
          <p:cNvSpPr txBox="1"/>
          <p:nvPr/>
        </p:nvSpPr>
        <p:spPr>
          <a:xfrm>
            <a:off x="3840480" y="4224528"/>
            <a:ext cx="7040880" cy="50292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Create revenue using quantity × unit price.</a:t>
            </a:r>
          </a:p>
        </p:txBody>
      </p:sp>
      <p:sp>
        <p:nvSpPr>
          <p:cNvPr id="29" name="Rounded Rectangle 28"/>
          <p:cNvSpPr/>
          <p:nvPr/>
        </p:nvSpPr>
        <p:spPr>
          <a:xfrm>
            <a:off x="777240" y="5166360"/>
            <a:ext cx="1005840" cy="6858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77240" y="5166360"/>
            <a:ext cx="82296" cy="6858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8408" y="5330952"/>
            <a:ext cx="68580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05</a:t>
            </a:r>
          </a:p>
        </p:txBody>
      </p:sp>
      <p:sp>
        <p:nvSpPr>
          <p:cNvPr id="32" name="TextBox 31"/>
          <p:cNvSpPr txBox="1"/>
          <p:nvPr/>
        </p:nvSpPr>
        <p:spPr>
          <a:xfrm>
            <a:off x="978408" y="5733288"/>
            <a:ext cx="68580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33" name="TextBox 32"/>
          <p:cNvSpPr txBox="1"/>
          <p:nvPr/>
        </p:nvSpPr>
        <p:spPr>
          <a:xfrm>
            <a:off x="2011680" y="5193792"/>
            <a:ext cx="1828800" cy="36576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Validate</a:t>
            </a:r>
          </a:p>
        </p:txBody>
      </p:sp>
      <p:sp>
        <p:nvSpPr>
          <p:cNvPr id="34" name="TextBox 33"/>
          <p:cNvSpPr txBox="1"/>
          <p:nvPr/>
        </p:nvSpPr>
        <p:spPr>
          <a:xfrm>
            <a:off x="3840480" y="5184648"/>
            <a:ext cx="7040880" cy="50292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Compare totals and check that calculations are reasonable.</a:t>
            </a:r>
          </a:p>
        </p:txBody>
      </p:sp>
      <p:sp>
        <p:nvSpPr>
          <p:cNvPr id="35" name="TextBox 34"/>
          <p:cNvSpPr txBox="1"/>
          <p:nvPr/>
        </p:nvSpPr>
        <p:spPr>
          <a:xfrm>
            <a:off x="822960" y="6080760"/>
            <a:ext cx="10515600" cy="274320"/>
          </a:xfrm>
          <a:prstGeom prst="rect">
            <a:avLst/>
          </a:prstGeom>
          <a:noFill/>
        </p:spPr>
        <p:txBody>
          <a:bodyPr wrap="square" lIns="45720" tIns="27432" rIns="45720" bIns="27432">
            <a:spAutoFit/>
          </a:bodyPr>
          <a:lstStyle/>
          <a:p>
            <a:pPr>
              <a:spcAft>
                <a:spcPts val="800"/>
              </a:spcAft>
              <a:defRPr sz="1300" b="1">
                <a:solidFill>
                  <a:srgbClr val="1E9D97"/>
                </a:solidFill>
                <a:latin typeface="Aptos"/>
              </a:defRPr>
            </a:pPr>
            <a:r>
              <a:t>Derived measure: Revenue = transaction quantity × unit price</a:t>
            </a:r>
          </a:p>
        </p:txBody>
      </p:sp>
      <p:sp>
        <p:nvSpPr>
          <p:cNvPr id="36" name="Rectangle 3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rPr dirty="0"/>
              <a:t>5. Tools and Analytical Workflow</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Each tool supports a different part of the analysis.</a:t>
            </a:r>
          </a:p>
        </p:txBody>
      </p:sp>
      <p:sp>
        <p:nvSpPr>
          <p:cNvPr id="5" name="Rounded Rectangle 4"/>
          <p:cNvSpPr/>
          <p:nvPr/>
        </p:nvSpPr>
        <p:spPr>
          <a:xfrm>
            <a:off x="731520" y="1417320"/>
            <a:ext cx="5074920" cy="141732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82296" cy="141732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581912"/>
            <a:ext cx="47548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SQL / DATABRICKS</a:t>
            </a:r>
          </a:p>
        </p:txBody>
      </p:sp>
      <p:sp>
        <p:nvSpPr>
          <p:cNvPr id="8" name="TextBox 7"/>
          <p:cNvSpPr txBox="1"/>
          <p:nvPr/>
        </p:nvSpPr>
        <p:spPr>
          <a:xfrm>
            <a:off x="932688" y="1984248"/>
            <a:ext cx="47548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9" name="TextBox 8"/>
          <p:cNvSpPr txBox="1"/>
          <p:nvPr/>
        </p:nvSpPr>
        <p:spPr>
          <a:xfrm>
            <a:off x="960120" y="2103120"/>
            <a:ext cx="4572000" cy="502920"/>
          </a:xfrm>
          <a:prstGeom prst="rect">
            <a:avLst/>
          </a:prstGeom>
          <a:noFill/>
        </p:spPr>
        <p:txBody>
          <a:bodyPr wrap="square" lIns="45720" tIns="27432" rIns="45720" bIns="27432">
            <a:spAutoFit/>
          </a:bodyPr>
          <a:lstStyle/>
          <a:p>
            <a:pPr>
              <a:spcAft>
                <a:spcPts val="800"/>
              </a:spcAft>
              <a:defRPr sz="1400" b="0">
                <a:solidFill>
                  <a:srgbClr val="273341"/>
                </a:solidFill>
                <a:latin typeface="Aptos"/>
              </a:defRPr>
            </a:pPr>
            <a:r>
              <a:t>Query, aggregate and analyse transaction data.</a:t>
            </a:r>
          </a:p>
        </p:txBody>
      </p:sp>
      <p:sp>
        <p:nvSpPr>
          <p:cNvPr id="10" name="Rounded Rectangle 9"/>
          <p:cNvSpPr/>
          <p:nvPr/>
        </p:nvSpPr>
        <p:spPr>
          <a:xfrm>
            <a:off x="6309359" y="1417320"/>
            <a:ext cx="5074920" cy="141732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59" y="1417320"/>
            <a:ext cx="82296" cy="141732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7" y="1581912"/>
            <a:ext cx="47548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MICROSOFT EXCEL</a:t>
            </a:r>
          </a:p>
        </p:txBody>
      </p:sp>
      <p:sp>
        <p:nvSpPr>
          <p:cNvPr id="13" name="TextBox 12"/>
          <p:cNvSpPr txBox="1"/>
          <p:nvPr/>
        </p:nvSpPr>
        <p:spPr>
          <a:xfrm>
            <a:off x="6510527" y="1984248"/>
            <a:ext cx="47548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14" name="TextBox 13"/>
          <p:cNvSpPr txBox="1"/>
          <p:nvPr/>
        </p:nvSpPr>
        <p:spPr>
          <a:xfrm>
            <a:off x="6537959" y="2103120"/>
            <a:ext cx="4572000" cy="502920"/>
          </a:xfrm>
          <a:prstGeom prst="rect">
            <a:avLst/>
          </a:prstGeom>
          <a:noFill/>
        </p:spPr>
        <p:txBody>
          <a:bodyPr wrap="square" lIns="45720" tIns="27432" rIns="45720" bIns="27432">
            <a:spAutoFit/>
          </a:bodyPr>
          <a:lstStyle/>
          <a:p>
            <a:pPr>
              <a:spcAft>
                <a:spcPts val="800"/>
              </a:spcAft>
              <a:defRPr sz="1400" b="0">
                <a:solidFill>
                  <a:srgbClr val="273341"/>
                </a:solidFill>
                <a:latin typeface="Aptos"/>
              </a:defRPr>
            </a:pPr>
            <a:r>
              <a:t>Process data, build pivot tables and create charts.</a:t>
            </a:r>
          </a:p>
        </p:txBody>
      </p:sp>
      <p:sp>
        <p:nvSpPr>
          <p:cNvPr id="15" name="Rounded Rectangle 14"/>
          <p:cNvSpPr/>
          <p:nvPr/>
        </p:nvSpPr>
        <p:spPr>
          <a:xfrm>
            <a:off x="731520" y="3383280"/>
            <a:ext cx="5074920" cy="141732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383280"/>
            <a:ext cx="82296" cy="141732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547872"/>
            <a:ext cx="47548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DASHBOARD</a:t>
            </a:r>
          </a:p>
        </p:txBody>
      </p:sp>
      <p:sp>
        <p:nvSpPr>
          <p:cNvPr id="18" name="TextBox 17"/>
          <p:cNvSpPr txBox="1"/>
          <p:nvPr/>
        </p:nvSpPr>
        <p:spPr>
          <a:xfrm>
            <a:off x="932688" y="3950208"/>
            <a:ext cx="47548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19" name="TextBox 18"/>
          <p:cNvSpPr txBox="1"/>
          <p:nvPr/>
        </p:nvSpPr>
        <p:spPr>
          <a:xfrm>
            <a:off x="960120" y="4069080"/>
            <a:ext cx="4572000" cy="502920"/>
          </a:xfrm>
          <a:prstGeom prst="rect">
            <a:avLst/>
          </a:prstGeom>
          <a:noFill/>
        </p:spPr>
        <p:txBody>
          <a:bodyPr wrap="square" lIns="45720" tIns="27432" rIns="45720" bIns="27432">
            <a:spAutoFit/>
          </a:bodyPr>
          <a:lstStyle/>
          <a:p>
            <a:pPr>
              <a:spcAft>
                <a:spcPts val="800"/>
              </a:spcAft>
              <a:defRPr sz="1400" b="0">
                <a:solidFill>
                  <a:srgbClr val="273341"/>
                </a:solidFill>
                <a:latin typeface="Aptos"/>
              </a:defRPr>
            </a:pPr>
            <a:r>
              <a:t>Present KPIs and comparisons in a single view.</a:t>
            </a:r>
          </a:p>
        </p:txBody>
      </p:sp>
      <p:sp>
        <p:nvSpPr>
          <p:cNvPr id="20" name="Rounded Rectangle 19"/>
          <p:cNvSpPr/>
          <p:nvPr/>
        </p:nvSpPr>
        <p:spPr>
          <a:xfrm>
            <a:off x="6309359" y="3383280"/>
            <a:ext cx="5074920" cy="141732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59" y="3383280"/>
            <a:ext cx="82296" cy="141732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7" y="3547872"/>
            <a:ext cx="475488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POWERPOINT</a:t>
            </a:r>
          </a:p>
        </p:txBody>
      </p:sp>
      <p:sp>
        <p:nvSpPr>
          <p:cNvPr id="23" name="TextBox 22"/>
          <p:cNvSpPr txBox="1"/>
          <p:nvPr/>
        </p:nvSpPr>
        <p:spPr>
          <a:xfrm>
            <a:off x="6510527" y="3950208"/>
            <a:ext cx="475488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endParaRPr/>
          </a:p>
        </p:txBody>
      </p:sp>
      <p:sp>
        <p:nvSpPr>
          <p:cNvPr id="24" name="TextBox 23"/>
          <p:cNvSpPr txBox="1"/>
          <p:nvPr/>
        </p:nvSpPr>
        <p:spPr>
          <a:xfrm>
            <a:off x="6537959" y="4069080"/>
            <a:ext cx="4572000" cy="502920"/>
          </a:xfrm>
          <a:prstGeom prst="rect">
            <a:avLst/>
          </a:prstGeom>
          <a:noFill/>
        </p:spPr>
        <p:txBody>
          <a:bodyPr wrap="square" lIns="45720" tIns="27432" rIns="45720" bIns="27432">
            <a:spAutoFit/>
          </a:bodyPr>
          <a:lstStyle/>
          <a:p>
            <a:pPr>
              <a:spcAft>
                <a:spcPts val="800"/>
              </a:spcAft>
              <a:defRPr sz="1400" b="0">
                <a:solidFill>
                  <a:srgbClr val="273341"/>
                </a:solidFill>
                <a:latin typeface="Aptos"/>
              </a:defRPr>
            </a:pPr>
            <a:r>
              <a:t>Communicate findings and recommendations.</a:t>
            </a:r>
          </a:p>
        </p:txBody>
      </p:sp>
      <p:sp>
        <p:nvSpPr>
          <p:cNvPr id="25" name="TextBox 24"/>
          <p:cNvSpPr txBox="1"/>
          <p:nvPr/>
        </p:nvSpPr>
        <p:spPr>
          <a:xfrm>
            <a:off x="914400" y="5623560"/>
            <a:ext cx="10241280" cy="411480"/>
          </a:xfrm>
          <a:prstGeom prst="rect">
            <a:avLst/>
          </a:prstGeom>
          <a:noFill/>
        </p:spPr>
        <p:txBody>
          <a:bodyPr wrap="square" lIns="45720" tIns="27432" rIns="45720" bIns="27432">
            <a:spAutoFit/>
          </a:bodyPr>
          <a:lstStyle/>
          <a:p>
            <a:pPr algn="ctr">
              <a:spcAft>
                <a:spcPts val="800"/>
              </a:spcAft>
              <a:defRPr sz="1500" b="1">
                <a:solidFill>
                  <a:srgbClr val="12253F"/>
                </a:solidFill>
                <a:latin typeface="Aptos"/>
              </a:defRPr>
            </a:pPr>
            <a:r>
              <a:t>Workflow: Source data → Prepare → Query → Summarise → Visualise → Recommend</a:t>
            </a:r>
          </a:p>
        </p:txBody>
      </p:sp>
      <p:sp>
        <p:nvSpPr>
          <p:cNvPr id="26" name="Rectangle 2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r>
              <a:rPr sz="2500" b="1" dirty="0"/>
              <a:t>6. Key Performance Indicators</a:t>
            </a:r>
          </a:p>
        </p:txBody>
      </p:sp>
      <p:sp>
        <p:nvSpPr>
          <p:cNvPr id="4" name="TextBox 3"/>
          <p:cNvSpPr txBox="1"/>
          <p:nvPr/>
        </p:nvSpPr>
        <p:spPr>
          <a:xfrm>
            <a:off x="475488" y="841248"/>
            <a:ext cx="11155680" cy="365760"/>
          </a:xfrm>
          <a:prstGeom prst="rect">
            <a:avLst/>
          </a:prstGeom>
          <a:noFill/>
        </p:spPr>
        <p:txBody>
          <a:bodyPr wrap="none">
            <a:spAutoFit/>
          </a:bodyPr>
          <a:lstStyle/>
          <a:p>
            <a:r>
              <a:t>Headline results for the six-month reporting period.</a:t>
            </a:r>
          </a:p>
        </p:txBody>
      </p:sp>
      <p:sp>
        <p:nvSpPr>
          <p:cNvPr id="5" name="Rounded Rectangle 4"/>
          <p:cNvSpPr/>
          <p:nvPr/>
        </p:nvSpPr>
        <p:spPr>
          <a:xfrm>
            <a:off x="685800" y="1417320"/>
            <a:ext cx="3474720" cy="13716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685800" y="1417320"/>
            <a:ext cx="82296" cy="13716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20"/>
            <a:ext cx="3154679" cy="320040"/>
          </a:xfrm>
          <a:prstGeom prst="rect">
            <a:avLst/>
          </a:prstGeom>
          <a:noFill/>
        </p:spPr>
        <p:txBody>
          <a:bodyPr wrap="square" lIns="45720" tIns="27432" rIns="45720" bIns="27432">
            <a:spAutoFit/>
          </a:bodyPr>
          <a:lstStyle/>
          <a:p>
            <a:r>
              <a:rPr dirty="0"/>
              <a:t>TOTAL REVENUE</a:t>
            </a:r>
          </a:p>
        </p:txBody>
      </p:sp>
      <p:sp>
        <p:nvSpPr>
          <p:cNvPr id="8" name="TextBox 7"/>
          <p:cNvSpPr txBox="1"/>
          <p:nvPr/>
        </p:nvSpPr>
        <p:spPr>
          <a:xfrm>
            <a:off x="914400" y="1829815"/>
            <a:ext cx="3154679" cy="502920"/>
          </a:xfrm>
          <a:prstGeom prst="rect">
            <a:avLst/>
          </a:prstGeom>
          <a:noFill/>
        </p:spPr>
        <p:txBody>
          <a:bodyPr wrap="square" lIns="45720" tIns="27432" rIns="45720" bIns="27432">
            <a:spAutoFit/>
          </a:bodyPr>
          <a:lstStyle/>
          <a:p>
            <a:r>
              <a:t>698,812.33</a:t>
            </a:r>
          </a:p>
        </p:txBody>
      </p:sp>
      <p:sp>
        <p:nvSpPr>
          <p:cNvPr id="9" name="TextBox 8"/>
          <p:cNvSpPr txBox="1"/>
          <p:nvPr/>
        </p:nvSpPr>
        <p:spPr>
          <a:xfrm>
            <a:off x="886968" y="2182469"/>
            <a:ext cx="3154679" cy="609398"/>
          </a:xfrm>
          <a:prstGeom prst="rect">
            <a:avLst/>
          </a:prstGeom>
          <a:noFill/>
        </p:spPr>
        <p:txBody>
          <a:bodyPr wrap="square" lIns="45720" tIns="27432" rIns="45720" bIns="27432">
            <a:spAutoFit/>
          </a:bodyPr>
          <a:lstStyle/>
          <a:p>
            <a:r>
              <a:rPr dirty="0"/>
              <a:t>Revenue calculated from quantity × unit price</a:t>
            </a:r>
          </a:p>
        </p:txBody>
      </p:sp>
      <p:sp>
        <p:nvSpPr>
          <p:cNvPr id="10" name="Rounded Rectangle 9"/>
          <p:cNvSpPr/>
          <p:nvPr/>
        </p:nvSpPr>
        <p:spPr>
          <a:xfrm>
            <a:off x="4389120" y="1417320"/>
            <a:ext cx="3474720" cy="13716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82296" cy="13716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81912"/>
            <a:ext cx="3154679" cy="320040"/>
          </a:xfrm>
          <a:prstGeom prst="rect">
            <a:avLst/>
          </a:prstGeom>
          <a:noFill/>
        </p:spPr>
        <p:txBody>
          <a:bodyPr wrap="square" lIns="45720" tIns="27432" rIns="45720" bIns="27432">
            <a:spAutoFit/>
          </a:bodyPr>
          <a:lstStyle/>
          <a:p>
            <a:r>
              <a:t>TRANSACTIONS</a:t>
            </a:r>
          </a:p>
        </p:txBody>
      </p:sp>
      <p:sp>
        <p:nvSpPr>
          <p:cNvPr id="13" name="TextBox 12"/>
          <p:cNvSpPr txBox="1"/>
          <p:nvPr/>
        </p:nvSpPr>
        <p:spPr>
          <a:xfrm>
            <a:off x="4590288" y="1984248"/>
            <a:ext cx="3154679" cy="502920"/>
          </a:xfrm>
          <a:prstGeom prst="rect">
            <a:avLst/>
          </a:prstGeom>
          <a:noFill/>
        </p:spPr>
        <p:txBody>
          <a:bodyPr wrap="square" lIns="45720" tIns="27432" rIns="45720" bIns="27432">
            <a:spAutoFit/>
          </a:bodyPr>
          <a:lstStyle/>
          <a:p>
            <a:r>
              <a:t>149,116</a:t>
            </a:r>
          </a:p>
        </p:txBody>
      </p:sp>
      <p:sp>
        <p:nvSpPr>
          <p:cNvPr id="14" name="TextBox 13"/>
          <p:cNvSpPr txBox="1"/>
          <p:nvPr/>
        </p:nvSpPr>
        <p:spPr>
          <a:xfrm>
            <a:off x="4590288" y="2441448"/>
            <a:ext cx="3154679" cy="201168"/>
          </a:xfrm>
          <a:prstGeom prst="rect">
            <a:avLst/>
          </a:prstGeom>
          <a:noFill/>
        </p:spPr>
        <p:txBody>
          <a:bodyPr wrap="square" lIns="45720" tIns="27432" rIns="45720" bIns="27432">
            <a:spAutoFit/>
          </a:bodyPr>
          <a:lstStyle/>
          <a:p>
            <a:r>
              <a:t>Transaction count</a:t>
            </a:r>
          </a:p>
        </p:txBody>
      </p:sp>
      <p:sp>
        <p:nvSpPr>
          <p:cNvPr id="15" name="Rounded Rectangle 14"/>
          <p:cNvSpPr/>
          <p:nvPr/>
        </p:nvSpPr>
        <p:spPr>
          <a:xfrm>
            <a:off x="8092440" y="1417320"/>
            <a:ext cx="3474720" cy="13716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17320"/>
            <a:ext cx="82296" cy="13716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581912"/>
            <a:ext cx="3154679" cy="320040"/>
          </a:xfrm>
          <a:prstGeom prst="rect">
            <a:avLst/>
          </a:prstGeom>
          <a:noFill/>
        </p:spPr>
        <p:txBody>
          <a:bodyPr wrap="square" lIns="45720" tIns="27432" rIns="45720" bIns="27432">
            <a:spAutoFit/>
          </a:bodyPr>
          <a:lstStyle/>
          <a:p>
            <a:r>
              <a:t>UNITS SOLD</a:t>
            </a:r>
          </a:p>
        </p:txBody>
      </p:sp>
      <p:sp>
        <p:nvSpPr>
          <p:cNvPr id="18" name="TextBox 17"/>
          <p:cNvSpPr txBox="1"/>
          <p:nvPr/>
        </p:nvSpPr>
        <p:spPr>
          <a:xfrm>
            <a:off x="8293608" y="1984248"/>
            <a:ext cx="3154679" cy="502920"/>
          </a:xfrm>
          <a:prstGeom prst="rect">
            <a:avLst/>
          </a:prstGeom>
          <a:noFill/>
        </p:spPr>
        <p:txBody>
          <a:bodyPr wrap="square" lIns="45720" tIns="27432" rIns="45720" bIns="27432">
            <a:spAutoFit/>
          </a:bodyPr>
          <a:lstStyle/>
          <a:p>
            <a:r>
              <a:t>214,470</a:t>
            </a:r>
          </a:p>
        </p:txBody>
      </p:sp>
      <p:sp>
        <p:nvSpPr>
          <p:cNvPr id="19" name="TextBox 18"/>
          <p:cNvSpPr txBox="1"/>
          <p:nvPr/>
        </p:nvSpPr>
        <p:spPr>
          <a:xfrm>
            <a:off x="8293608" y="2441448"/>
            <a:ext cx="3154679" cy="201168"/>
          </a:xfrm>
          <a:prstGeom prst="rect">
            <a:avLst/>
          </a:prstGeom>
          <a:noFill/>
        </p:spPr>
        <p:txBody>
          <a:bodyPr wrap="square" lIns="45720" tIns="27432" rIns="45720" bIns="27432">
            <a:spAutoFit/>
          </a:bodyPr>
          <a:lstStyle/>
          <a:p>
            <a:r>
              <a:t>Total quantity sold</a:t>
            </a:r>
          </a:p>
        </p:txBody>
      </p:sp>
      <p:sp>
        <p:nvSpPr>
          <p:cNvPr id="20" name="Rounded Rectangle 19"/>
          <p:cNvSpPr/>
          <p:nvPr/>
        </p:nvSpPr>
        <p:spPr>
          <a:xfrm>
            <a:off x="2514600" y="3337560"/>
            <a:ext cx="3474720" cy="13716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4600" y="3337560"/>
            <a:ext cx="82296" cy="13716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15768" y="3502152"/>
            <a:ext cx="3154679" cy="320040"/>
          </a:xfrm>
          <a:prstGeom prst="rect">
            <a:avLst/>
          </a:prstGeom>
          <a:noFill/>
        </p:spPr>
        <p:txBody>
          <a:bodyPr wrap="square" lIns="45720" tIns="27432" rIns="45720" bIns="27432">
            <a:spAutoFit/>
          </a:bodyPr>
          <a:lstStyle/>
          <a:p>
            <a:r>
              <a:t>UNIQUE PRODUCTS</a:t>
            </a:r>
          </a:p>
        </p:txBody>
      </p:sp>
      <p:sp>
        <p:nvSpPr>
          <p:cNvPr id="23" name="TextBox 22"/>
          <p:cNvSpPr txBox="1"/>
          <p:nvPr/>
        </p:nvSpPr>
        <p:spPr>
          <a:xfrm>
            <a:off x="2715768" y="3904487"/>
            <a:ext cx="3154679" cy="502920"/>
          </a:xfrm>
          <a:prstGeom prst="rect">
            <a:avLst/>
          </a:prstGeom>
          <a:noFill/>
        </p:spPr>
        <p:txBody>
          <a:bodyPr wrap="square" lIns="45720" tIns="27432" rIns="45720" bIns="27432">
            <a:spAutoFit/>
          </a:bodyPr>
          <a:lstStyle/>
          <a:p>
            <a:r>
              <a:t>80</a:t>
            </a:r>
          </a:p>
        </p:txBody>
      </p:sp>
      <p:sp>
        <p:nvSpPr>
          <p:cNvPr id="24" name="TextBox 23"/>
          <p:cNvSpPr txBox="1"/>
          <p:nvPr/>
        </p:nvSpPr>
        <p:spPr>
          <a:xfrm>
            <a:off x="2715768" y="4361688"/>
            <a:ext cx="3154679" cy="201168"/>
          </a:xfrm>
          <a:prstGeom prst="rect">
            <a:avLst/>
          </a:prstGeom>
          <a:noFill/>
        </p:spPr>
        <p:txBody>
          <a:bodyPr wrap="square" lIns="45720" tIns="27432" rIns="45720" bIns="27432">
            <a:spAutoFit/>
          </a:bodyPr>
          <a:lstStyle/>
          <a:p>
            <a:r>
              <a:t>Distinct product count</a:t>
            </a:r>
          </a:p>
        </p:txBody>
      </p:sp>
      <p:sp>
        <p:nvSpPr>
          <p:cNvPr id="25" name="Rounded Rectangle 24"/>
          <p:cNvSpPr/>
          <p:nvPr/>
        </p:nvSpPr>
        <p:spPr>
          <a:xfrm>
            <a:off x="6217920" y="3337560"/>
            <a:ext cx="3474720" cy="13716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3337560"/>
            <a:ext cx="82296" cy="13716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19088" y="3502152"/>
            <a:ext cx="3154679" cy="320040"/>
          </a:xfrm>
          <a:prstGeom prst="rect">
            <a:avLst/>
          </a:prstGeom>
          <a:noFill/>
        </p:spPr>
        <p:txBody>
          <a:bodyPr wrap="square" lIns="45720" tIns="27432" rIns="45720" bIns="27432">
            <a:spAutoFit/>
          </a:bodyPr>
          <a:lstStyle/>
          <a:p>
            <a:r>
              <a:t>STORES</a:t>
            </a:r>
          </a:p>
        </p:txBody>
      </p:sp>
      <p:sp>
        <p:nvSpPr>
          <p:cNvPr id="28" name="TextBox 27"/>
          <p:cNvSpPr txBox="1"/>
          <p:nvPr/>
        </p:nvSpPr>
        <p:spPr>
          <a:xfrm>
            <a:off x="6419088" y="3904487"/>
            <a:ext cx="3154679" cy="502920"/>
          </a:xfrm>
          <a:prstGeom prst="rect">
            <a:avLst/>
          </a:prstGeom>
          <a:noFill/>
        </p:spPr>
        <p:txBody>
          <a:bodyPr wrap="square" lIns="45720" tIns="27432" rIns="45720" bIns="27432">
            <a:spAutoFit/>
          </a:bodyPr>
          <a:lstStyle/>
          <a:p>
            <a:r>
              <a:t>3</a:t>
            </a:r>
          </a:p>
        </p:txBody>
      </p:sp>
      <p:sp>
        <p:nvSpPr>
          <p:cNvPr id="29" name="TextBox 28"/>
          <p:cNvSpPr txBox="1"/>
          <p:nvPr/>
        </p:nvSpPr>
        <p:spPr>
          <a:xfrm>
            <a:off x="6419088" y="4361688"/>
            <a:ext cx="3154679" cy="201168"/>
          </a:xfrm>
          <a:prstGeom prst="rect">
            <a:avLst/>
          </a:prstGeom>
          <a:noFill/>
        </p:spPr>
        <p:txBody>
          <a:bodyPr wrap="square" lIns="45720" tIns="27432" rIns="45720" bIns="27432">
            <a:spAutoFit/>
          </a:bodyPr>
          <a:lstStyle/>
          <a:p>
            <a:r>
              <a:t>Astoria, Hell's Kitchen, Lower Manhattan</a:t>
            </a:r>
          </a:p>
        </p:txBody>
      </p:sp>
      <p:sp>
        <p:nvSpPr>
          <p:cNvPr id="30" name="TextBox 29"/>
          <p:cNvSpPr txBox="1"/>
          <p:nvPr/>
        </p:nvSpPr>
        <p:spPr>
          <a:xfrm>
            <a:off x="914400" y="5349240"/>
            <a:ext cx="10332720" cy="502920"/>
          </a:xfrm>
          <a:prstGeom prst="rect">
            <a:avLst/>
          </a:prstGeom>
          <a:noFill/>
        </p:spPr>
        <p:txBody>
          <a:bodyPr wrap="square" lIns="45720" tIns="27432" rIns="45720" bIns="27432">
            <a:spAutoFit/>
          </a:bodyPr>
          <a:lstStyle/>
          <a:p>
            <a:r>
              <a:t>These KPIs establish the overall scale of sales before comparing performance across months, stores and products.</a:t>
            </a:r>
          </a:p>
        </p:txBody>
      </p:sp>
      <p:sp>
        <p:nvSpPr>
          <p:cNvPr id="31" name="Rectangle 30"/>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 y="6547104"/>
            <a:ext cx="3467616" cy="215444"/>
          </a:xfrm>
          <a:prstGeom prst="rect">
            <a:avLst/>
          </a:prstGeom>
          <a:noFill/>
        </p:spPr>
        <p:txBody>
          <a:bodyPr wrap="none">
            <a:spAutoFit/>
          </a:bodyPr>
          <a:lstStyle/>
          <a:p>
            <a:r>
              <a:rPr sz="800" dirty="0"/>
              <a:t>BRIGHT COFFEE SHOP SALES ANALYSIS  |  JAN–JUN 2023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r>
              <a:rPr lang="en-US" sz="2500" b="1" dirty="0"/>
              <a:t>7. </a:t>
            </a:r>
            <a:r>
              <a:rPr sz="2500" b="1" dirty="0"/>
              <a:t>Monthly Revenue Trend — What the Data Shows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Monthly values used to identify the trend.</a:t>
            </a:r>
          </a:p>
        </p:txBody>
      </p:sp>
      <p:sp>
        <p:nvSpPr>
          <p:cNvPr id="6" name="Rounded Rectangle 5"/>
          <p:cNvSpPr/>
          <p:nvPr/>
        </p:nvSpPr>
        <p:spPr>
          <a:xfrm>
            <a:off x="8412480" y="1600200"/>
            <a:ext cx="274320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412480" y="1600200"/>
            <a:ext cx="82296" cy="114300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13648" y="1764792"/>
            <a:ext cx="2423160" cy="320040"/>
          </a:xfrm>
          <a:prstGeom prst="rect">
            <a:avLst/>
          </a:prstGeom>
          <a:noFill/>
        </p:spPr>
        <p:txBody>
          <a:bodyPr wrap="square" lIns="45720" tIns="27432" rIns="45720" bIns="27432">
            <a:spAutoFit/>
          </a:bodyPr>
          <a:lstStyle/>
          <a:p>
            <a:endParaRPr/>
          </a:p>
        </p:txBody>
      </p:sp>
      <p:sp>
        <p:nvSpPr>
          <p:cNvPr id="9" name="TextBox 8"/>
          <p:cNvSpPr txBox="1"/>
          <p:nvPr/>
        </p:nvSpPr>
        <p:spPr>
          <a:xfrm>
            <a:off x="8613648" y="2167128"/>
            <a:ext cx="24231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February</a:t>
            </a:r>
          </a:p>
        </p:txBody>
      </p:sp>
      <p:sp>
        <p:nvSpPr>
          <p:cNvPr id="10" name="Rounded Rectangle 9"/>
          <p:cNvSpPr/>
          <p:nvPr/>
        </p:nvSpPr>
        <p:spPr>
          <a:xfrm>
            <a:off x="8412480" y="2971800"/>
            <a:ext cx="274320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412480" y="2971800"/>
            <a:ext cx="82296" cy="114300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13648" y="3136392"/>
            <a:ext cx="2423160" cy="320040"/>
          </a:xfrm>
          <a:prstGeom prst="rect">
            <a:avLst/>
          </a:prstGeom>
          <a:noFill/>
        </p:spPr>
        <p:txBody>
          <a:bodyPr wrap="square" lIns="45720" tIns="27432" rIns="45720" bIns="27432">
            <a:spAutoFit/>
          </a:bodyPr>
          <a:lstStyle/>
          <a:p>
            <a:endParaRPr/>
          </a:p>
        </p:txBody>
      </p:sp>
      <p:sp>
        <p:nvSpPr>
          <p:cNvPr id="13" name="TextBox 12"/>
          <p:cNvSpPr txBox="1"/>
          <p:nvPr/>
        </p:nvSpPr>
        <p:spPr>
          <a:xfrm>
            <a:off x="8613648" y="3538728"/>
            <a:ext cx="24231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June</a:t>
            </a:r>
          </a:p>
        </p:txBody>
      </p:sp>
      <p:sp>
        <p:nvSpPr>
          <p:cNvPr id="14" name="Rounded Rectangle 13"/>
          <p:cNvSpPr/>
          <p:nvPr/>
        </p:nvSpPr>
        <p:spPr>
          <a:xfrm>
            <a:off x="8412480" y="4343400"/>
            <a:ext cx="2743200" cy="114300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412480" y="4343400"/>
            <a:ext cx="82296" cy="114300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13648" y="4507992"/>
            <a:ext cx="2423160" cy="320040"/>
          </a:xfrm>
          <a:prstGeom prst="rect">
            <a:avLst/>
          </a:prstGeom>
          <a:noFill/>
        </p:spPr>
        <p:txBody>
          <a:bodyPr wrap="square" lIns="45720" tIns="27432" rIns="45720" bIns="27432">
            <a:spAutoFit/>
          </a:bodyPr>
          <a:lstStyle/>
          <a:p>
            <a:endParaRPr/>
          </a:p>
        </p:txBody>
      </p:sp>
      <p:sp>
        <p:nvSpPr>
          <p:cNvPr id="17" name="TextBox 16"/>
          <p:cNvSpPr txBox="1"/>
          <p:nvPr/>
        </p:nvSpPr>
        <p:spPr>
          <a:xfrm>
            <a:off x="8613648" y="4910328"/>
            <a:ext cx="24231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166,485.88</a:t>
            </a:r>
          </a:p>
        </p:txBody>
      </p:sp>
      <p:sp>
        <p:nvSpPr>
          <p:cNvPr id="18" name="Rectangle 17"/>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10</a:t>
            </a:r>
          </a:p>
        </p:txBody>
      </p:sp>
      <p:sp>
        <p:nvSpPr>
          <p:cNvPr id="20" name="TextBox 19"/>
          <p:cNvSpPr txBox="1"/>
          <p:nvPr/>
        </p:nvSpPr>
        <p:spPr>
          <a:xfrm>
            <a:off x="1794543" y="2124099"/>
            <a:ext cx="6280382" cy="2125710"/>
          </a:xfrm>
          <a:prstGeom prst="rect">
            <a:avLst/>
          </a:prstGeom>
          <a:noFill/>
        </p:spPr>
        <p:txBody>
          <a:bodyPr wrap="square" lIns="73152" tIns="36576" rIns="73152" bIns="36576">
            <a:spAutoFit/>
          </a:bodyPr>
          <a:lstStyle/>
          <a:p>
            <a:pPr algn="l">
              <a:spcAft>
                <a:spcPts val="700"/>
              </a:spcAft>
              <a:defRPr sz="2200" b="1">
                <a:solidFill>
                  <a:srgbClr val="17365D"/>
                </a:solidFill>
                <a:latin typeface="Aptos"/>
              </a:defRPr>
            </a:pPr>
            <a:r>
              <a:rPr dirty="0"/>
              <a:t>Lowest month</a:t>
            </a:r>
          </a:p>
          <a:p>
            <a:pPr algn="l">
              <a:spcAft>
                <a:spcPts val="700"/>
              </a:spcAft>
              <a:defRPr sz="2200" b="0">
                <a:solidFill>
                  <a:srgbClr val="17365D"/>
                </a:solidFill>
                <a:latin typeface="Aptos"/>
              </a:defRPr>
            </a:pPr>
            <a:r>
              <a:rPr dirty="0"/>
              <a:t>February: 76,145.19</a:t>
            </a:r>
          </a:p>
          <a:p>
            <a:pPr algn="l">
              <a:spcAft>
                <a:spcPts val="700"/>
              </a:spcAft>
              <a:defRPr sz="2200" b="0">
                <a:solidFill>
                  <a:srgbClr val="17365D"/>
                </a:solidFill>
                <a:latin typeface="Aptos"/>
              </a:defRPr>
            </a:pPr>
            <a:endParaRPr dirty="0"/>
          </a:p>
          <a:p>
            <a:pPr algn="l">
              <a:spcAft>
                <a:spcPts val="700"/>
              </a:spcAft>
              <a:defRPr sz="2200" b="0">
                <a:solidFill>
                  <a:srgbClr val="17365D"/>
                </a:solidFill>
                <a:latin typeface="Aptos"/>
              </a:defRPr>
            </a:pPr>
            <a:r>
              <a:rPr dirty="0"/>
              <a:t>Highest month</a:t>
            </a:r>
          </a:p>
          <a:p>
            <a:pPr algn="l">
              <a:spcAft>
                <a:spcPts val="700"/>
              </a:spcAft>
              <a:defRPr sz="2200" b="0">
                <a:solidFill>
                  <a:srgbClr val="17365D"/>
                </a:solidFill>
                <a:latin typeface="Aptos"/>
              </a:defRPr>
            </a:pPr>
            <a:r>
              <a:rPr dirty="0"/>
              <a:t>June: 166,485.88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8. Store, Category and Time Analysis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The dashboard is designed to compare the main sales dimensions.</a:t>
            </a:r>
          </a:p>
        </p:txBody>
      </p:sp>
      <p:sp>
        <p:nvSpPr>
          <p:cNvPr id="5" name="Rounded Rectangle 4"/>
          <p:cNvSpPr/>
          <p:nvPr/>
        </p:nvSpPr>
        <p:spPr>
          <a:xfrm>
            <a:off x="7315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82296" cy="132588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STORE COMPARISON</a:t>
            </a:r>
          </a:p>
        </p:txBody>
      </p:sp>
      <p:sp>
        <p:nvSpPr>
          <p:cNvPr id="8" name="TextBox 7"/>
          <p:cNvSpPr txBox="1"/>
          <p:nvPr/>
        </p:nvSpPr>
        <p:spPr>
          <a:xfrm>
            <a:off x="9326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3 locations</a:t>
            </a:r>
          </a:p>
        </p:txBody>
      </p:sp>
      <p:sp>
        <p:nvSpPr>
          <p:cNvPr id="9" name="TextBox 8"/>
          <p:cNvSpPr txBox="1"/>
          <p:nvPr/>
        </p:nvSpPr>
        <p:spPr>
          <a:xfrm>
            <a:off x="9326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Compare revenue by store</a:t>
            </a:r>
          </a:p>
        </p:txBody>
      </p:sp>
      <p:sp>
        <p:nvSpPr>
          <p:cNvPr id="10" name="Rounded Rectangle 9"/>
          <p:cNvSpPr/>
          <p:nvPr/>
        </p:nvSpPr>
        <p:spPr>
          <a:xfrm>
            <a:off x="43891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82296" cy="132588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CATEGORY ANALYSIS</a:t>
            </a:r>
          </a:p>
        </p:txBody>
      </p:sp>
      <p:sp>
        <p:nvSpPr>
          <p:cNvPr id="13" name="TextBox 12"/>
          <p:cNvSpPr txBox="1"/>
          <p:nvPr/>
        </p:nvSpPr>
        <p:spPr>
          <a:xfrm>
            <a:off x="45902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9 categories</a:t>
            </a:r>
          </a:p>
        </p:txBody>
      </p:sp>
      <p:sp>
        <p:nvSpPr>
          <p:cNvPr id="14" name="TextBox 13"/>
          <p:cNvSpPr txBox="1"/>
          <p:nvPr/>
        </p:nvSpPr>
        <p:spPr>
          <a:xfrm>
            <a:off x="45902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Compare category contribution</a:t>
            </a:r>
          </a:p>
        </p:txBody>
      </p:sp>
      <p:sp>
        <p:nvSpPr>
          <p:cNvPr id="15" name="Rounded Rectangle 14"/>
          <p:cNvSpPr/>
          <p:nvPr/>
        </p:nvSpPr>
        <p:spPr>
          <a:xfrm>
            <a:off x="80467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417320"/>
            <a:ext cx="82296" cy="132588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TIME ANALYSIS</a:t>
            </a:r>
          </a:p>
        </p:txBody>
      </p:sp>
      <p:sp>
        <p:nvSpPr>
          <p:cNvPr id="18" name="TextBox 17"/>
          <p:cNvSpPr txBox="1"/>
          <p:nvPr/>
        </p:nvSpPr>
        <p:spPr>
          <a:xfrm>
            <a:off x="82478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Day &amp; time</a:t>
            </a:r>
          </a:p>
        </p:txBody>
      </p:sp>
      <p:sp>
        <p:nvSpPr>
          <p:cNvPr id="19" name="TextBox 18"/>
          <p:cNvSpPr txBox="1"/>
          <p:nvPr/>
        </p:nvSpPr>
        <p:spPr>
          <a:xfrm>
            <a:off x="82478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Identify busy periods</a:t>
            </a:r>
          </a:p>
        </p:txBody>
      </p:sp>
      <p:sp>
        <p:nvSpPr>
          <p:cNvPr id="20" name="TextBox 19"/>
          <p:cNvSpPr txBox="1"/>
          <p:nvPr/>
        </p:nvSpPr>
        <p:spPr>
          <a:xfrm>
            <a:off x="868680" y="3246120"/>
            <a:ext cx="4937760" cy="41148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Questions to answer from the dashboard</a:t>
            </a:r>
          </a:p>
        </p:txBody>
      </p:sp>
      <p:sp>
        <p:nvSpPr>
          <p:cNvPr id="21" name="TextBox 20"/>
          <p:cNvSpPr txBox="1"/>
          <p:nvPr/>
        </p:nvSpPr>
        <p:spPr>
          <a:xfrm>
            <a:off x="868680" y="3749039"/>
            <a:ext cx="5120640" cy="1920240"/>
          </a:xfrm>
          <a:prstGeom prst="rect">
            <a:avLst/>
          </a:prstGeom>
          <a:noFill/>
        </p:spPr>
        <p:txBody>
          <a:bodyPr wrap="square" lIns="109728" rIns="73152">
            <a:spAutoFit/>
          </a:bodyPr>
          <a:lstStyle/>
          <a:p>
            <a:pPr>
              <a:spcAft>
                <a:spcPts val="1300"/>
              </a:spcAft>
              <a:defRPr sz="1500">
                <a:solidFill>
                  <a:srgbClr val="273341"/>
                </a:solidFill>
                <a:latin typeface="Aptos"/>
              </a:defRPr>
            </a:pPr>
            <a:r>
              <a:t>•  Which store generates the most revenue?</a:t>
            </a:r>
          </a:p>
          <a:p>
            <a:pPr>
              <a:spcAft>
                <a:spcPts val="1300"/>
              </a:spcAft>
              <a:defRPr sz="1500">
                <a:solidFill>
                  <a:srgbClr val="273341"/>
                </a:solidFill>
                <a:latin typeface="Aptos"/>
              </a:defRPr>
            </a:pPr>
            <a:r>
              <a:t>•  Which categories contribute most to sales?</a:t>
            </a:r>
          </a:p>
          <a:p>
            <a:pPr>
              <a:spcAft>
                <a:spcPts val="1300"/>
              </a:spcAft>
              <a:defRPr sz="1500">
                <a:solidFill>
                  <a:srgbClr val="273341"/>
                </a:solidFill>
                <a:latin typeface="Aptos"/>
              </a:defRPr>
            </a:pPr>
            <a:r>
              <a:t>•  How does revenue vary by day and time?</a:t>
            </a:r>
          </a:p>
        </p:txBody>
      </p:sp>
      <p:sp>
        <p:nvSpPr>
          <p:cNvPr id="22" name="TextBox 21"/>
          <p:cNvSpPr txBox="1"/>
          <p:nvPr/>
        </p:nvSpPr>
        <p:spPr>
          <a:xfrm>
            <a:off x="6400800" y="3246120"/>
            <a:ext cx="4572000" cy="41148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Interpretation note</a:t>
            </a:r>
          </a:p>
        </p:txBody>
      </p:sp>
      <p:sp>
        <p:nvSpPr>
          <p:cNvPr id="23" name="TextBox 22"/>
          <p:cNvSpPr txBox="1"/>
          <p:nvPr/>
        </p:nvSpPr>
        <p:spPr>
          <a:xfrm>
            <a:off x="6400800" y="3749039"/>
            <a:ext cx="4480560" cy="146304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Use the store, category and time charts in the Excel dashboard to support these comparisons. Exact segment rankings should be read from the validated pivot tables.</a:t>
            </a:r>
          </a:p>
        </p:txBody>
      </p:sp>
      <p:sp>
        <p:nvSpPr>
          <p:cNvPr id="24" name="Rectangle 23"/>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rPr dirty="0"/>
              <a:t>BRIGHT COFFEE SHOP SALES ANALYSIS  |  JAN–JUN 2023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9. Store, Category and Time Analysis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The dashboard is designed to compare the main sales dimensions.</a:t>
            </a:r>
          </a:p>
        </p:txBody>
      </p:sp>
      <p:sp>
        <p:nvSpPr>
          <p:cNvPr id="5" name="Rounded Rectangle 4"/>
          <p:cNvSpPr/>
          <p:nvPr/>
        </p:nvSpPr>
        <p:spPr>
          <a:xfrm>
            <a:off x="7315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82296" cy="1325880"/>
          </a:xfrm>
          <a:prstGeom prst="rect">
            <a:avLst/>
          </a:prstGeom>
          <a:solidFill>
            <a:srgbClr val="2B6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STORE COMPARISON</a:t>
            </a:r>
          </a:p>
        </p:txBody>
      </p:sp>
      <p:sp>
        <p:nvSpPr>
          <p:cNvPr id="8" name="TextBox 7"/>
          <p:cNvSpPr txBox="1"/>
          <p:nvPr/>
        </p:nvSpPr>
        <p:spPr>
          <a:xfrm>
            <a:off x="9326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3 locations</a:t>
            </a:r>
          </a:p>
        </p:txBody>
      </p:sp>
      <p:sp>
        <p:nvSpPr>
          <p:cNvPr id="9" name="TextBox 8"/>
          <p:cNvSpPr txBox="1"/>
          <p:nvPr/>
        </p:nvSpPr>
        <p:spPr>
          <a:xfrm>
            <a:off x="9326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Compare revenue by store</a:t>
            </a:r>
          </a:p>
        </p:txBody>
      </p:sp>
      <p:sp>
        <p:nvSpPr>
          <p:cNvPr id="10" name="Rounded Rectangle 9"/>
          <p:cNvSpPr/>
          <p:nvPr/>
        </p:nvSpPr>
        <p:spPr>
          <a:xfrm>
            <a:off x="43891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82296" cy="1325880"/>
          </a:xfrm>
          <a:prstGeom prst="rect">
            <a:avLst/>
          </a:prstGeom>
          <a:solidFill>
            <a:srgbClr val="1E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CATEGORY ANALYSIS</a:t>
            </a:r>
          </a:p>
        </p:txBody>
      </p:sp>
      <p:sp>
        <p:nvSpPr>
          <p:cNvPr id="13" name="TextBox 12"/>
          <p:cNvSpPr txBox="1"/>
          <p:nvPr/>
        </p:nvSpPr>
        <p:spPr>
          <a:xfrm>
            <a:off x="45902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9 categories</a:t>
            </a:r>
          </a:p>
        </p:txBody>
      </p:sp>
      <p:sp>
        <p:nvSpPr>
          <p:cNvPr id="14" name="TextBox 13"/>
          <p:cNvSpPr txBox="1"/>
          <p:nvPr/>
        </p:nvSpPr>
        <p:spPr>
          <a:xfrm>
            <a:off x="45902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Compare category contribution</a:t>
            </a:r>
          </a:p>
        </p:txBody>
      </p:sp>
      <p:sp>
        <p:nvSpPr>
          <p:cNvPr id="15" name="Rounded Rectangle 14"/>
          <p:cNvSpPr/>
          <p:nvPr/>
        </p:nvSpPr>
        <p:spPr>
          <a:xfrm>
            <a:off x="8046720" y="1417320"/>
            <a:ext cx="3429000" cy="1325880"/>
          </a:xfrm>
          <a:prstGeom prst="roundRect">
            <a:avLst/>
          </a:prstGeom>
          <a:solidFill>
            <a:srgbClr val="F3F7FB"/>
          </a:solidFill>
          <a:ln>
            <a:solidFill>
              <a:srgbClr val="E0EC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417320"/>
            <a:ext cx="82296" cy="1325880"/>
          </a:xfrm>
          <a:prstGeom prst="rect">
            <a:avLst/>
          </a:prstGeom>
          <a:solidFill>
            <a:srgbClr val="EEB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581912"/>
            <a:ext cx="3108960" cy="320040"/>
          </a:xfrm>
          <a:prstGeom prst="rect">
            <a:avLst/>
          </a:prstGeom>
          <a:noFill/>
        </p:spPr>
        <p:txBody>
          <a:bodyPr wrap="square" lIns="45720" tIns="27432" rIns="45720" bIns="27432">
            <a:spAutoFit/>
          </a:bodyPr>
          <a:lstStyle/>
          <a:p>
            <a:pPr>
              <a:spcAft>
                <a:spcPts val="800"/>
              </a:spcAft>
              <a:defRPr sz="1000" b="1">
                <a:solidFill>
                  <a:srgbClr val="637180"/>
                </a:solidFill>
                <a:latin typeface="Aptos"/>
              </a:defRPr>
            </a:pPr>
            <a:r>
              <a:t>TIME ANALYSIS</a:t>
            </a:r>
          </a:p>
        </p:txBody>
      </p:sp>
      <p:sp>
        <p:nvSpPr>
          <p:cNvPr id="18" name="TextBox 17"/>
          <p:cNvSpPr txBox="1"/>
          <p:nvPr/>
        </p:nvSpPr>
        <p:spPr>
          <a:xfrm>
            <a:off x="8247888" y="1984248"/>
            <a:ext cx="3108960" cy="502920"/>
          </a:xfrm>
          <a:prstGeom prst="rect">
            <a:avLst/>
          </a:prstGeom>
          <a:noFill/>
        </p:spPr>
        <p:txBody>
          <a:bodyPr wrap="square" lIns="45720" tIns="27432" rIns="45720" bIns="27432">
            <a:spAutoFit/>
          </a:bodyPr>
          <a:lstStyle/>
          <a:p>
            <a:pPr>
              <a:spcAft>
                <a:spcPts val="800"/>
              </a:spcAft>
              <a:defRPr sz="2300" b="1">
                <a:solidFill>
                  <a:srgbClr val="12253F"/>
                </a:solidFill>
                <a:latin typeface="Aptos"/>
              </a:defRPr>
            </a:pPr>
            <a:r>
              <a:t>Day &amp; time</a:t>
            </a:r>
          </a:p>
        </p:txBody>
      </p:sp>
      <p:sp>
        <p:nvSpPr>
          <p:cNvPr id="19" name="TextBox 18"/>
          <p:cNvSpPr txBox="1"/>
          <p:nvPr/>
        </p:nvSpPr>
        <p:spPr>
          <a:xfrm>
            <a:off x="8247888" y="2395728"/>
            <a:ext cx="3108960" cy="201168"/>
          </a:xfrm>
          <a:prstGeom prst="rect">
            <a:avLst/>
          </a:prstGeom>
          <a:noFill/>
        </p:spPr>
        <p:txBody>
          <a:bodyPr wrap="square" lIns="45720" tIns="27432" rIns="45720" bIns="27432">
            <a:spAutoFit/>
          </a:bodyPr>
          <a:lstStyle/>
          <a:p>
            <a:pPr>
              <a:spcAft>
                <a:spcPts val="800"/>
              </a:spcAft>
              <a:defRPr sz="900" b="0">
                <a:solidFill>
                  <a:srgbClr val="637180"/>
                </a:solidFill>
                <a:latin typeface="Aptos"/>
              </a:defRPr>
            </a:pPr>
            <a:r>
              <a:t>Identify busy periods</a:t>
            </a:r>
          </a:p>
        </p:txBody>
      </p:sp>
      <p:sp>
        <p:nvSpPr>
          <p:cNvPr id="20" name="TextBox 19"/>
          <p:cNvSpPr txBox="1"/>
          <p:nvPr/>
        </p:nvSpPr>
        <p:spPr>
          <a:xfrm>
            <a:off x="868680" y="3246120"/>
            <a:ext cx="4937760" cy="41148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Questions to answer from the dashboard</a:t>
            </a:r>
          </a:p>
        </p:txBody>
      </p:sp>
      <p:sp>
        <p:nvSpPr>
          <p:cNvPr id="21" name="TextBox 20"/>
          <p:cNvSpPr txBox="1"/>
          <p:nvPr/>
        </p:nvSpPr>
        <p:spPr>
          <a:xfrm>
            <a:off x="868680" y="3749039"/>
            <a:ext cx="5120640" cy="1920240"/>
          </a:xfrm>
          <a:prstGeom prst="rect">
            <a:avLst/>
          </a:prstGeom>
          <a:noFill/>
        </p:spPr>
        <p:txBody>
          <a:bodyPr wrap="square" lIns="109728" rIns="73152">
            <a:spAutoFit/>
          </a:bodyPr>
          <a:lstStyle/>
          <a:p>
            <a:pPr>
              <a:spcAft>
                <a:spcPts val="1300"/>
              </a:spcAft>
              <a:defRPr sz="1500">
                <a:solidFill>
                  <a:srgbClr val="273341"/>
                </a:solidFill>
                <a:latin typeface="Aptos"/>
              </a:defRPr>
            </a:pPr>
            <a:r>
              <a:t>•  Which store generates the most revenue?</a:t>
            </a:r>
          </a:p>
          <a:p>
            <a:pPr>
              <a:spcAft>
                <a:spcPts val="1300"/>
              </a:spcAft>
              <a:defRPr sz="1500">
                <a:solidFill>
                  <a:srgbClr val="273341"/>
                </a:solidFill>
                <a:latin typeface="Aptos"/>
              </a:defRPr>
            </a:pPr>
            <a:r>
              <a:t>•  Which categories contribute most to sales?</a:t>
            </a:r>
          </a:p>
          <a:p>
            <a:pPr>
              <a:spcAft>
                <a:spcPts val="1300"/>
              </a:spcAft>
              <a:defRPr sz="1500">
                <a:solidFill>
                  <a:srgbClr val="273341"/>
                </a:solidFill>
                <a:latin typeface="Aptos"/>
              </a:defRPr>
            </a:pPr>
            <a:r>
              <a:t>•  How does revenue vary by day and time?</a:t>
            </a:r>
          </a:p>
        </p:txBody>
      </p:sp>
      <p:sp>
        <p:nvSpPr>
          <p:cNvPr id="22" name="TextBox 21"/>
          <p:cNvSpPr txBox="1"/>
          <p:nvPr/>
        </p:nvSpPr>
        <p:spPr>
          <a:xfrm>
            <a:off x="6400800" y="3246120"/>
            <a:ext cx="4572000" cy="411480"/>
          </a:xfrm>
          <a:prstGeom prst="rect">
            <a:avLst/>
          </a:prstGeom>
          <a:noFill/>
        </p:spPr>
        <p:txBody>
          <a:bodyPr wrap="square" lIns="45720" tIns="27432" rIns="45720" bIns="27432">
            <a:spAutoFit/>
          </a:bodyPr>
          <a:lstStyle/>
          <a:p>
            <a:pPr>
              <a:spcAft>
                <a:spcPts val="800"/>
              </a:spcAft>
              <a:defRPr sz="1700" b="1">
                <a:solidFill>
                  <a:srgbClr val="12253F"/>
                </a:solidFill>
                <a:latin typeface="Aptos"/>
              </a:defRPr>
            </a:pPr>
            <a:r>
              <a:t>Interpretation note</a:t>
            </a:r>
          </a:p>
        </p:txBody>
      </p:sp>
      <p:sp>
        <p:nvSpPr>
          <p:cNvPr id="23" name="TextBox 22"/>
          <p:cNvSpPr txBox="1"/>
          <p:nvPr/>
        </p:nvSpPr>
        <p:spPr>
          <a:xfrm>
            <a:off x="6400800" y="3749039"/>
            <a:ext cx="4480560" cy="1463040"/>
          </a:xfrm>
          <a:prstGeom prst="rect">
            <a:avLst/>
          </a:prstGeom>
          <a:noFill/>
        </p:spPr>
        <p:txBody>
          <a:bodyPr wrap="square" lIns="45720" tIns="27432" rIns="45720" bIns="27432">
            <a:spAutoFit/>
          </a:bodyPr>
          <a:lstStyle/>
          <a:p>
            <a:pPr>
              <a:spcAft>
                <a:spcPts val="800"/>
              </a:spcAft>
              <a:defRPr sz="1500" b="0">
                <a:solidFill>
                  <a:srgbClr val="273341"/>
                </a:solidFill>
                <a:latin typeface="Aptos"/>
              </a:defRPr>
            </a:pPr>
            <a:r>
              <a:t>Use the store, category and time charts in the Excel dashboard to support these comparisons. Exact segment rankings should be read from the validated pivot tables.</a:t>
            </a:r>
          </a:p>
        </p:txBody>
      </p:sp>
      <p:sp>
        <p:nvSpPr>
          <p:cNvPr id="24" name="Rectangle 23"/>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10. SQL Analysis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SQL helps calculate consistent measures from the transaction data.</a:t>
            </a:r>
          </a:p>
        </p:txBody>
      </p:sp>
      <p:sp>
        <p:nvSpPr>
          <p:cNvPr id="5" name="TextBox 4"/>
          <p:cNvSpPr txBox="1"/>
          <p:nvPr/>
        </p:nvSpPr>
        <p:spPr>
          <a:xfrm>
            <a:off x="777240" y="1325880"/>
            <a:ext cx="5029200" cy="411480"/>
          </a:xfrm>
          <a:prstGeom prst="rect">
            <a:avLst/>
          </a:prstGeom>
          <a:noFill/>
        </p:spPr>
        <p:txBody>
          <a:bodyPr wrap="square" lIns="45720" tIns="27432" rIns="45720" bIns="27432">
            <a:spAutoFit/>
          </a:bodyPr>
          <a:lstStyle/>
          <a:p>
            <a:pPr>
              <a:spcAft>
                <a:spcPts val="800"/>
              </a:spcAft>
              <a:defRPr sz="1800" b="1">
                <a:solidFill>
                  <a:srgbClr val="12253F"/>
                </a:solidFill>
                <a:latin typeface="Aptos"/>
              </a:defRPr>
            </a:pPr>
            <a:r>
              <a:t>Core calculations</a:t>
            </a:r>
          </a:p>
        </p:txBody>
      </p:sp>
      <p:sp>
        <p:nvSpPr>
          <p:cNvPr id="6" name="TextBox 5"/>
          <p:cNvSpPr txBox="1"/>
          <p:nvPr/>
        </p:nvSpPr>
        <p:spPr>
          <a:xfrm>
            <a:off x="822960" y="1828800"/>
            <a:ext cx="5120640" cy="3474720"/>
          </a:xfrm>
          <a:prstGeom prst="rect">
            <a:avLst/>
          </a:prstGeom>
          <a:noFill/>
        </p:spPr>
        <p:txBody>
          <a:bodyPr wrap="square" lIns="109728" rIns="73152">
            <a:spAutoFit/>
          </a:bodyPr>
          <a:lstStyle/>
          <a:p>
            <a:pPr>
              <a:spcAft>
                <a:spcPts val="1300"/>
              </a:spcAft>
              <a:defRPr sz="1600">
                <a:solidFill>
                  <a:srgbClr val="273341"/>
                </a:solidFill>
                <a:latin typeface="Aptos"/>
              </a:defRPr>
            </a:pPr>
            <a:r>
              <a:t>•  Total revenue: SUM(quantity × unit price)</a:t>
            </a:r>
          </a:p>
          <a:p>
            <a:pPr>
              <a:spcAft>
                <a:spcPts val="1300"/>
              </a:spcAft>
              <a:defRPr sz="1600">
                <a:solidFill>
                  <a:srgbClr val="273341"/>
                </a:solidFill>
                <a:latin typeface="Aptos"/>
              </a:defRPr>
            </a:pPr>
            <a:r>
              <a:t>•  Units sold: SUM(transaction quantity)</a:t>
            </a:r>
          </a:p>
          <a:p>
            <a:pPr>
              <a:spcAft>
                <a:spcPts val="1300"/>
              </a:spcAft>
              <a:defRPr sz="1600">
                <a:solidFill>
                  <a:srgbClr val="273341"/>
                </a:solidFill>
                <a:latin typeface="Aptos"/>
              </a:defRPr>
            </a:pPr>
            <a:r>
              <a:t>•  Transactions: COUNT(DISTINCT transaction_id)</a:t>
            </a:r>
          </a:p>
          <a:p>
            <a:pPr>
              <a:spcAft>
                <a:spcPts val="1300"/>
              </a:spcAft>
              <a:defRPr sz="1600">
                <a:solidFill>
                  <a:srgbClr val="273341"/>
                </a:solidFill>
                <a:latin typeface="Aptos"/>
              </a:defRPr>
            </a:pPr>
            <a:r>
              <a:t>•  Store count: COUNT(DISTINCT store_id)</a:t>
            </a:r>
          </a:p>
          <a:p>
            <a:pPr>
              <a:spcAft>
                <a:spcPts val="1300"/>
              </a:spcAft>
              <a:defRPr sz="1600">
                <a:solidFill>
                  <a:srgbClr val="273341"/>
                </a:solidFill>
                <a:latin typeface="Aptos"/>
              </a:defRPr>
            </a:pPr>
            <a:r>
              <a:t>•  Monthly analysis: group by month</a:t>
            </a:r>
          </a:p>
        </p:txBody>
      </p:sp>
      <p:sp>
        <p:nvSpPr>
          <p:cNvPr id="7" name="Rounded Rectangle 6"/>
          <p:cNvSpPr/>
          <p:nvPr/>
        </p:nvSpPr>
        <p:spPr>
          <a:xfrm>
            <a:off x="6217920" y="1508760"/>
            <a:ext cx="5074920" cy="3474720"/>
          </a:xfrm>
          <a:prstGeom prst="round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874519"/>
            <a:ext cx="4526280" cy="2560320"/>
          </a:xfrm>
          <a:prstGeom prst="rect">
            <a:avLst/>
          </a:prstGeom>
          <a:noFill/>
        </p:spPr>
        <p:txBody>
          <a:bodyPr wrap="square">
            <a:spAutoFit/>
          </a:bodyPr>
          <a:lstStyle/>
          <a:p>
            <a:pPr>
              <a:spcAft>
                <a:spcPts val="700"/>
              </a:spcAft>
              <a:defRPr sz="1400">
                <a:solidFill>
                  <a:srgbClr val="FFFFFF"/>
                </a:solidFill>
                <a:latin typeface="Consolas"/>
              </a:defRPr>
            </a:pPr>
            <a:r>
              <a:t>SELECT</a:t>
            </a:r>
          </a:p>
          <a:p>
            <a:pPr>
              <a:spcAft>
                <a:spcPts val="700"/>
              </a:spcAft>
              <a:defRPr sz="1400">
                <a:solidFill>
                  <a:srgbClr val="FFFFFF"/>
                </a:solidFill>
                <a:latin typeface="Consolas"/>
              </a:defRPr>
            </a:pPr>
            <a:r>
              <a:t>  SUM(transaction_qty * unit_price) AS total_revenue,</a:t>
            </a:r>
          </a:p>
          <a:p>
            <a:pPr>
              <a:spcAft>
                <a:spcPts val="700"/>
              </a:spcAft>
              <a:defRPr sz="1400">
                <a:solidFill>
                  <a:srgbClr val="FFFFFF"/>
                </a:solidFill>
                <a:latin typeface="Consolas"/>
              </a:defRPr>
            </a:pPr>
            <a:r>
              <a:t>  SUM(transaction_qty) AS units_sold,</a:t>
            </a:r>
          </a:p>
          <a:p>
            <a:pPr>
              <a:spcAft>
                <a:spcPts val="700"/>
              </a:spcAft>
              <a:defRPr sz="1400">
                <a:solidFill>
                  <a:srgbClr val="FFFFFF"/>
                </a:solidFill>
                <a:latin typeface="Consolas"/>
              </a:defRPr>
            </a:pPr>
            <a:r>
              <a:t>  COUNT(DISTINCT transaction_id) AS transactions</a:t>
            </a:r>
          </a:p>
          <a:p>
            <a:pPr>
              <a:spcAft>
                <a:spcPts val="700"/>
              </a:spcAft>
              <a:defRPr sz="1400">
                <a:solidFill>
                  <a:srgbClr val="FFFFFF"/>
                </a:solidFill>
                <a:latin typeface="Consolas"/>
              </a:defRPr>
            </a:pPr>
            <a:r>
              <a:t>FROM bright_coffee_shop_sales_dataset;</a:t>
            </a:r>
          </a:p>
        </p:txBody>
      </p:sp>
      <p:sp>
        <p:nvSpPr>
          <p:cNvPr id="9" name="TextBox 8"/>
          <p:cNvSpPr txBox="1"/>
          <p:nvPr/>
        </p:nvSpPr>
        <p:spPr>
          <a:xfrm>
            <a:off x="6355080" y="5257800"/>
            <a:ext cx="4846320" cy="224677"/>
          </a:xfrm>
          <a:prstGeom prst="rect">
            <a:avLst/>
          </a:prstGeom>
          <a:noFill/>
        </p:spPr>
        <p:txBody>
          <a:bodyPr wrap="square" lIns="45720" tIns="27432" rIns="45720" bIns="27432">
            <a:spAutoFit/>
          </a:bodyPr>
          <a:lstStyle/>
          <a:p>
            <a:pPr>
              <a:spcAft>
                <a:spcPts val="800"/>
              </a:spcAft>
              <a:defRPr sz="1100" b="0">
                <a:solidFill>
                  <a:srgbClr val="637180"/>
                </a:solidFill>
                <a:latin typeface="Aptos"/>
              </a:defRPr>
            </a:pPr>
            <a:endParaRPr dirty="0"/>
          </a:p>
        </p:txBody>
      </p:sp>
      <p:sp>
        <p:nvSpPr>
          <p:cNvPr id="10" name="Rectangle 9"/>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11. Key Findings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The confirmed results point to a clear upward revenue trend in the later months.</a:t>
            </a:r>
          </a:p>
        </p:txBody>
      </p:sp>
      <p:sp>
        <p:nvSpPr>
          <p:cNvPr id="5" name="TextBox 4"/>
          <p:cNvSpPr txBox="1"/>
          <p:nvPr/>
        </p:nvSpPr>
        <p:spPr>
          <a:xfrm>
            <a:off x="822960" y="1371600"/>
            <a:ext cx="10332720" cy="4206240"/>
          </a:xfrm>
          <a:prstGeom prst="rect">
            <a:avLst/>
          </a:prstGeom>
          <a:noFill/>
        </p:spPr>
        <p:txBody>
          <a:bodyPr wrap="square" lIns="109728" rIns="73152">
            <a:spAutoFit/>
          </a:bodyPr>
          <a:lstStyle/>
          <a:p>
            <a:pPr>
              <a:spcAft>
                <a:spcPts val="1300"/>
              </a:spcAft>
              <a:defRPr sz="1800">
                <a:solidFill>
                  <a:srgbClr val="273341"/>
                </a:solidFill>
                <a:latin typeface="Aptos"/>
              </a:defRPr>
            </a:pPr>
            <a:r>
              <a:t>•  Total revenue for January–June 2023 was 698,812.33.</a:t>
            </a:r>
          </a:p>
          <a:p>
            <a:pPr>
              <a:spcAft>
                <a:spcPts val="1300"/>
              </a:spcAft>
              <a:defRPr sz="1800">
                <a:solidFill>
                  <a:srgbClr val="273341"/>
                </a:solidFill>
                <a:latin typeface="Aptos"/>
              </a:defRPr>
            </a:pPr>
            <a:r>
              <a:t>•  The dataset records 149,116 transactions and 214,470 units sold.</a:t>
            </a:r>
          </a:p>
          <a:p>
            <a:pPr>
              <a:spcAft>
                <a:spcPts val="1300"/>
              </a:spcAft>
              <a:defRPr sz="1800">
                <a:solidFill>
                  <a:srgbClr val="273341"/>
                </a:solidFill>
                <a:latin typeface="Aptos"/>
              </a:defRPr>
            </a:pPr>
            <a:r>
              <a:t>•  Monthly revenue was lowest in February at 76,145.19.</a:t>
            </a:r>
          </a:p>
          <a:p>
            <a:pPr>
              <a:spcAft>
                <a:spcPts val="1300"/>
              </a:spcAft>
              <a:defRPr sz="1800">
                <a:solidFill>
                  <a:srgbClr val="273341"/>
                </a:solidFill>
                <a:latin typeface="Aptos"/>
              </a:defRPr>
            </a:pPr>
            <a:r>
              <a:t>•  Monthly revenue was highest in June at 166,485.88.</a:t>
            </a:r>
          </a:p>
          <a:p>
            <a:pPr>
              <a:spcAft>
                <a:spcPts val="1300"/>
              </a:spcAft>
              <a:defRPr sz="1800">
                <a:solidFill>
                  <a:srgbClr val="273341"/>
                </a:solidFill>
                <a:latin typeface="Aptos"/>
              </a:defRPr>
            </a:pPr>
            <a:r>
              <a:t>•  Revenue increased in each month from March through June.</a:t>
            </a:r>
          </a:p>
          <a:p>
            <a:pPr>
              <a:spcAft>
                <a:spcPts val="1300"/>
              </a:spcAft>
              <a:defRPr sz="1800">
                <a:solidFill>
                  <a:srgbClr val="273341"/>
                </a:solidFill>
                <a:latin typeface="Aptos"/>
              </a:defRPr>
            </a:pPr>
            <a:r>
              <a:t>•  Store, category and time charts can help explain where and when sales were generated.</a:t>
            </a:r>
          </a:p>
        </p:txBody>
      </p:sp>
      <p:sp>
        <p:nvSpPr>
          <p:cNvPr id="6" name="Rectangle 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12. Recommendations</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Use the analysis to support practical sales and operational decisions.</a:t>
            </a:r>
          </a:p>
        </p:txBody>
      </p:sp>
      <p:sp>
        <p:nvSpPr>
          <p:cNvPr id="5" name="TextBox 4"/>
          <p:cNvSpPr txBox="1"/>
          <p:nvPr/>
        </p:nvSpPr>
        <p:spPr>
          <a:xfrm>
            <a:off x="822960" y="1371600"/>
            <a:ext cx="10332720" cy="4389120"/>
          </a:xfrm>
          <a:prstGeom prst="rect">
            <a:avLst/>
          </a:prstGeom>
          <a:noFill/>
        </p:spPr>
        <p:txBody>
          <a:bodyPr wrap="square" lIns="109728" rIns="73152">
            <a:spAutoFit/>
          </a:bodyPr>
          <a:lstStyle/>
          <a:p>
            <a:pPr>
              <a:spcAft>
                <a:spcPts val="1300"/>
              </a:spcAft>
              <a:defRPr sz="1700">
                <a:solidFill>
                  <a:srgbClr val="273341"/>
                </a:solidFill>
                <a:latin typeface="Aptos"/>
              </a:defRPr>
            </a:pPr>
            <a:r>
              <a:t>•  Review the reasons behind the February revenue dip and identify whether it was seasonal or operational.</a:t>
            </a:r>
          </a:p>
          <a:p>
            <a:pPr>
              <a:spcAft>
                <a:spcPts val="1300"/>
              </a:spcAft>
              <a:defRPr sz="1700">
                <a:solidFill>
                  <a:srgbClr val="273341"/>
                </a:solidFill>
                <a:latin typeface="Aptos"/>
              </a:defRPr>
            </a:pPr>
            <a:r>
              <a:t>•  Investigate what drove the stronger performance in May and June, then test whether those actions can be repeated.</a:t>
            </a:r>
          </a:p>
          <a:p>
            <a:pPr>
              <a:spcAft>
                <a:spcPts val="1300"/>
              </a:spcAft>
              <a:defRPr sz="1700">
                <a:solidFill>
                  <a:srgbClr val="273341"/>
                </a:solidFill>
                <a:latin typeface="Aptos"/>
              </a:defRPr>
            </a:pPr>
            <a:r>
              <a:t>•  Use store-level comparisons to direct support and resources where they can have the greatest impact.</a:t>
            </a:r>
          </a:p>
          <a:p>
            <a:pPr>
              <a:spcAft>
                <a:spcPts val="1300"/>
              </a:spcAft>
              <a:defRPr sz="1700">
                <a:solidFill>
                  <a:srgbClr val="273341"/>
                </a:solidFill>
                <a:latin typeface="Aptos"/>
              </a:defRPr>
            </a:pPr>
            <a:r>
              <a:t>•  Use category and product performance to guide stock planning and promotions.</a:t>
            </a:r>
          </a:p>
          <a:p>
            <a:pPr>
              <a:spcAft>
                <a:spcPts val="1300"/>
              </a:spcAft>
              <a:defRPr sz="1700">
                <a:solidFill>
                  <a:srgbClr val="273341"/>
                </a:solidFill>
                <a:latin typeface="Aptos"/>
              </a:defRPr>
            </a:pPr>
            <a:r>
              <a:t>•  Use day-and-time patterns to plan staffing and service capacity.</a:t>
            </a:r>
          </a:p>
          <a:p>
            <a:pPr>
              <a:spcAft>
                <a:spcPts val="1300"/>
              </a:spcAft>
              <a:defRPr sz="1700">
                <a:solidFill>
                  <a:srgbClr val="273341"/>
                </a:solidFill>
                <a:latin typeface="Aptos"/>
              </a:defRPr>
            </a:pPr>
            <a:r>
              <a:t>•  Refresh the dashboard regularly so managers can track changes over time.</a:t>
            </a:r>
          </a:p>
        </p:txBody>
      </p:sp>
      <p:sp>
        <p:nvSpPr>
          <p:cNvPr id="6" name="Rectangle 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49808"/>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lIns="438912" tIns="109728" rtlCol="0" anchor="ctr"/>
          <a:lstStyle/>
          <a:p>
            <a:pPr algn="ctr">
              <a:defRPr sz="2500" b="1">
                <a:solidFill>
                  <a:srgbClr val="FFFFFF"/>
                </a:solidFill>
                <a:latin typeface="Aptos Display"/>
              </a:defRPr>
            </a:pPr>
            <a:r>
              <a:t>13. Limitations and Data Quality</a:t>
            </a:r>
          </a:p>
        </p:txBody>
      </p:sp>
      <p:sp>
        <p:nvSpPr>
          <p:cNvPr id="4" name="TextBox 3"/>
          <p:cNvSpPr txBox="1"/>
          <p:nvPr/>
        </p:nvSpPr>
        <p:spPr>
          <a:xfrm>
            <a:off x="475488" y="841248"/>
            <a:ext cx="11155680" cy="365760"/>
          </a:xfrm>
          <a:prstGeom prst="rect">
            <a:avLst/>
          </a:prstGeom>
          <a:noFill/>
        </p:spPr>
        <p:txBody>
          <a:bodyPr wrap="none">
            <a:spAutoFit/>
          </a:bodyPr>
          <a:lstStyle/>
          <a:p>
            <a:pPr>
              <a:defRPr sz="1100">
                <a:solidFill>
                  <a:srgbClr val="637180"/>
                </a:solidFill>
                <a:latin typeface="Aptos"/>
              </a:defRPr>
            </a:pPr>
            <a:r>
              <a:t>Findings are useful, but should be interpreted within the dataset's scope.</a:t>
            </a:r>
          </a:p>
        </p:txBody>
      </p:sp>
      <p:sp>
        <p:nvSpPr>
          <p:cNvPr id="5" name="TextBox 4"/>
          <p:cNvSpPr txBox="1"/>
          <p:nvPr/>
        </p:nvSpPr>
        <p:spPr>
          <a:xfrm>
            <a:off x="822960" y="1417320"/>
            <a:ext cx="10515600" cy="4206240"/>
          </a:xfrm>
          <a:prstGeom prst="rect">
            <a:avLst/>
          </a:prstGeom>
          <a:noFill/>
        </p:spPr>
        <p:txBody>
          <a:bodyPr wrap="square" lIns="109728" rIns="73152">
            <a:spAutoFit/>
          </a:bodyPr>
          <a:lstStyle/>
          <a:p>
            <a:pPr>
              <a:spcAft>
                <a:spcPts val="1300"/>
              </a:spcAft>
              <a:defRPr sz="1600">
                <a:solidFill>
                  <a:srgbClr val="273341"/>
                </a:solidFill>
                <a:latin typeface="Aptos"/>
              </a:defRPr>
            </a:pPr>
            <a:r>
              <a:t>•  The reporting period covers six months only; it does not show a full year of seasonality.</a:t>
            </a:r>
          </a:p>
          <a:p>
            <a:pPr>
              <a:spcAft>
                <a:spcPts val="1300"/>
              </a:spcAft>
              <a:defRPr sz="1600">
                <a:solidFill>
                  <a:srgbClr val="273341"/>
                </a:solidFill>
                <a:latin typeface="Aptos"/>
              </a:defRPr>
            </a:pPr>
            <a:r>
              <a:t>•  The dataset describes recorded transactions and does not explain causes such as promotions, weather or local events.</a:t>
            </a:r>
          </a:p>
          <a:p>
            <a:pPr>
              <a:spcAft>
                <a:spcPts val="1300"/>
              </a:spcAft>
              <a:defRPr sz="1600">
                <a:solidFill>
                  <a:srgbClr val="273341"/>
                </a:solidFill>
                <a:latin typeface="Aptos"/>
              </a:defRPr>
            </a:pPr>
            <a:r>
              <a:t>•  Store, category and time rankings should be confirmed against the final pivot tables before quoting exact values.</a:t>
            </a:r>
          </a:p>
          <a:p>
            <a:pPr>
              <a:spcAft>
                <a:spcPts val="1300"/>
              </a:spcAft>
              <a:defRPr sz="1600">
                <a:solidFill>
                  <a:srgbClr val="273341"/>
                </a:solidFill>
                <a:latin typeface="Aptos"/>
              </a:defRPr>
            </a:pPr>
            <a:r>
              <a:t>•  Revenue values are shown without a currency symbol because the currency unit was not confirmed in the supplied summary.</a:t>
            </a:r>
          </a:p>
          <a:p>
            <a:pPr>
              <a:spcAft>
                <a:spcPts val="1300"/>
              </a:spcAft>
              <a:defRPr sz="1600">
                <a:solidFill>
                  <a:srgbClr val="273341"/>
                </a:solidFill>
                <a:latin typeface="Aptos"/>
              </a:defRPr>
            </a:pPr>
            <a:r>
              <a:t>•  Data preparation and SQL calculations should be documented so results can be reproduced.</a:t>
            </a:r>
          </a:p>
        </p:txBody>
      </p:sp>
      <p:sp>
        <p:nvSpPr>
          <p:cNvPr id="6" name="Rectangle 5"/>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1155680" cy="502920"/>
          </a:xfrm>
          <a:prstGeom prst="rect">
            <a:avLst/>
          </a:prstGeom>
          <a:noFill/>
        </p:spPr>
        <p:txBody>
          <a:bodyPr wrap="square" lIns="73152" tIns="36576" rIns="73152" bIns="36576">
            <a:spAutoFit/>
          </a:bodyPr>
          <a:lstStyle/>
          <a:p>
            <a:pPr algn="l">
              <a:spcAft>
                <a:spcPts val="700"/>
              </a:spcAft>
              <a:defRPr sz="2700" b="1">
                <a:solidFill>
                  <a:srgbClr val="17365D"/>
                </a:solidFill>
                <a:latin typeface="Aptos"/>
              </a:defRPr>
            </a:pPr>
            <a:r>
              <a:t>14. Revenue by Store</a:t>
            </a:r>
          </a:p>
        </p:txBody>
      </p:sp>
      <p:sp>
        <p:nvSpPr>
          <p:cNvPr id="4" name="TextBox 3"/>
          <p:cNvSpPr txBox="1"/>
          <p:nvPr/>
        </p:nvSpPr>
        <p:spPr>
          <a:xfrm>
            <a:off x="530352" y="941832"/>
            <a:ext cx="10972800" cy="347472"/>
          </a:xfrm>
          <a:prstGeom prst="rect">
            <a:avLst/>
          </a:prstGeom>
          <a:noFill/>
        </p:spPr>
        <p:txBody>
          <a:bodyPr wrap="square" lIns="73152" tIns="36576" rIns="73152" bIns="36576">
            <a:spAutoFit/>
          </a:bodyPr>
          <a:lstStyle/>
          <a:p>
            <a:pPr algn="l">
              <a:spcAft>
                <a:spcPts val="700"/>
              </a:spcAft>
              <a:defRPr sz="1200" b="0">
                <a:solidFill>
                  <a:srgbClr val="646E78"/>
                </a:solidFill>
                <a:latin typeface="Aptos"/>
              </a:defRPr>
            </a:pPr>
            <a:r>
              <a:t>Verified from the supplied transaction CSV | January–June 2023</a:t>
            </a:r>
          </a:p>
        </p:txBody>
      </p:sp>
      <p:graphicFrame>
        <p:nvGraphicFramePr>
          <p:cNvPr id="5" name="Chart 4"/>
          <p:cNvGraphicFramePr>
            <a:graphicFrameLocks noGrp="1"/>
          </p:cNvGraphicFramePr>
          <p:nvPr/>
        </p:nvGraphicFramePr>
        <p:xfrm>
          <a:off x="594360" y="1508760"/>
          <a:ext cx="6675120" cy="448056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543800" y="1691640"/>
            <a:ext cx="3977639" cy="4297680"/>
          </a:xfrm>
          <a:prstGeom prst="rect">
            <a:avLst/>
          </a:prstGeom>
          <a:noFill/>
        </p:spPr>
        <p:txBody>
          <a:bodyPr wrap="square" lIns="73152" tIns="36576" rIns="73152" bIns="36576">
            <a:spAutoFit/>
          </a:bodyPr>
          <a:lstStyle/>
          <a:p>
            <a:pPr algn="l">
              <a:spcAft>
                <a:spcPts val="700"/>
              </a:spcAft>
              <a:defRPr sz="1600" b="0">
                <a:solidFill>
                  <a:srgbClr val="2D3748"/>
                </a:solidFill>
                <a:latin typeface="Aptos"/>
              </a:defRPr>
            </a:pPr>
            <a:r>
              <a:t>Key finding</a:t>
            </a:r>
          </a:p>
          <a:p>
            <a:pPr algn="l">
              <a:spcAft>
                <a:spcPts val="700"/>
              </a:spcAft>
              <a:defRPr sz="1600" b="0">
                <a:solidFill>
                  <a:srgbClr val="2D3748"/>
                </a:solidFill>
                <a:latin typeface="Aptos"/>
              </a:defRPr>
            </a:pPr>
            <a:r>
              <a:t>• Highest revenue: Hell's Kitchen (236,511.17)</a:t>
            </a:r>
          </a:p>
          <a:p>
            <a:pPr algn="l">
              <a:spcAft>
                <a:spcPts val="700"/>
              </a:spcAft>
              <a:defRPr sz="1600" b="0">
                <a:solidFill>
                  <a:srgbClr val="2D3748"/>
                </a:solidFill>
                <a:latin typeface="Aptos"/>
              </a:defRPr>
            </a:pPr>
            <a:r>
              <a:t>• Second: Astoria (232,243.91)</a:t>
            </a:r>
          </a:p>
          <a:p>
            <a:pPr algn="l">
              <a:spcAft>
                <a:spcPts val="700"/>
              </a:spcAft>
              <a:defRPr sz="1600" b="0">
                <a:solidFill>
                  <a:srgbClr val="2D3748"/>
                </a:solidFill>
                <a:latin typeface="Aptos"/>
              </a:defRPr>
            </a:pPr>
            <a:r>
              <a:t>• Third: Lower Manhattan (230,057.25)</a:t>
            </a:r>
          </a:p>
          <a:p>
            <a:pPr algn="l">
              <a:spcAft>
                <a:spcPts val="700"/>
              </a:spcAft>
              <a:defRPr sz="1600" b="0">
                <a:solidFill>
                  <a:srgbClr val="2D3748"/>
                </a:solidFill>
                <a:latin typeface="Aptos"/>
              </a:defRPr>
            </a:pPr>
            <a:endParaRPr/>
          </a:p>
          <a:p>
            <a:pPr algn="l">
              <a:spcAft>
                <a:spcPts val="700"/>
              </a:spcAft>
              <a:defRPr sz="1600" b="0">
                <a:solidFill>
                  <a:srgbClr val="2D3748"/>
                </a:solidFill>
                <a:latin typeface="Aptos"/>
              </a:defRPr>
            </a:pPr>
            <a:r>
              <a:t>The revenue totals are relatively close across the three locations. Compare transactions and units sold as well before deciding what drives the differences.</a:t>
            </a:r>
          </a:p>
        </p:txBody>
      </p:sp>
      <p:sp>
        <p:nvSpPr>
          <p:cNvPr id="7" name="TextBox 6"/>
          <p:cNvSpPr txBox="1"/>
          <p:nvPr/>
        </p:nvSpPr>
        <p:spPr>
          <a:xfrm>
            <a:off x="548640" y="6510528"/>
            <a:ext cx="10972800" cy="201168"/>
          </a:xfrm>
          <a:prstGeom prst="rect">
            <a:avLst/>
          </a:prstGeom>
          <a:noFill/>
        </p:spPr>
        <p:txBody>
          <a:bodyPr wrap="square" lIns="73152" tIns="36576" rIns="73152" bIns="36576">
            <a:spAutoFit/>
          </a:bodyPr>
          <a:lstStyle/>
          <a:p>
            <a:pPr algn="l">
              <a:spcAft>
                <a:spcPts val="700"/>
              </a:spcAft>
              <a:defRPr sz="800" b="0">
                <a:solidFill>
                  <a:srgbClr val="646E78"/>
                </a:solidFill>
                <a:latin typeface="Aptos"/>
              </a:defRPr>
            </a:pPr>
            <a:r>
              <a:t>Source: Bright Coffee Shop Sales dataset (Jan–Jun 2023). Revenue = transaction quantity × unit price; currency not confirmed.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1155680" cy="502920"/>
          </a:xfrm>
          <a:prstGeom prst="rect">
            <a:avLst/>
          </a:prstGeom>
          <a:noFill/>
        </p:spPr>
        <p:txBody>
          <a:bodyPr wrap="square" lIns="73152" tIns="36576" rIns="73152" bIns="36576">
            <a:spAutoFit/>
          </a:bodyPr>
          <a:lstStyle/>
          <a:p>
            <a:pPr algn="l">
              <a:spcAft>
                <a:spcPts val="700"/>
              </a:spcAft>
              <a:defRPr sz="2700" b="1">
                <a:solidFill>
                  <a:srgbClr val="17365D"/>
                </a:solidFill>
                <a:latin typeface="Aptos"/>
              </a:defRPr>
            </a:pPr>
            <a:r>
              <a:t>15. Revenue by Product Category</a:t>
            </a:r>
          </a:p>
        </p:txBody>
      </p:sp>
      <p:sp>
        <p:nvSpPr>
          <p:cNvPr id="4" name="TextBox 3"/>
          <p:cNvSpPr txBox="1"/>
          <p:nvPr/>
        </p:nvSpPr>
        <p:spPr>
          <a:xfrm>
            <a:off x="530352" y="941832"/>
            <a:ext cx="10972800" cy="347472"/>
          </a:xfrm>
          <a:prstGeom prst="rect">
            <a:avLst/>
          </a:prstGeom>
          <a:noFill/>
        </p:spPr>
        <p:txBody>
          <a:bodyPr wrap="square" lIns="73152" tIns="36576" rIns="73152" bIns="36576">
            <a:spAutoFit/>
          </a:bodyPr>
          <a:lstStyle/>
          <a:p>
            <a:pPr algn="l">
              <a:spcAft>
                <a:spcPts val="700"/>
              </a:spcAft>
              <a:defRPr sz="1200" b="0">
                <a:solidFill>
                  <a:srgbClr val="646E78"/>
                </a:solidFill>
                <a:latin typeface="Aptos"/>
              </a:defRPr>
            </a:pPr>
            <a:r>
              <a:t>Verified category totals | All nine categories included in the chart</a:t>
            </a:r>
          </a:p>
        </p:txBody>
      </p:sp>
      <p:graphicFrame>
        <p:nvGraphicFramePr>
          <p:cNvPr id="5" name="Chart 4"/>
          <p:cNvGraphicFramePr>
            <a:graphicFrameLocks noGrp="1"/>
          </p:cNvGraphicFramePr>
          <p:nvPr/>
        </p:nvGraphicFramePr>
        <p:xfrm>
          <a:off x="502920" y="1417320"/>
          <a:ext cx="7132320" cy="48920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818120" y="1645920"/>
            <a:ext cx="3657600" cy="4480560"/>
          </a:xfrm>
          <a:prstGeom prst="rect">
            <a:avLst/>
          </a:prstGeom>
          <a:noFill/>
        </p:spPr>
        <p:txBody>
          <a:bodyPr wrap="square" lIns="73152" tIns="36576" rIns="73152" bIns="36576">
            <a:spAutoFit/>
          </a:bodyPr>
          <a:lstStyle/>
          <a:p>
            <a:pPr algn="l">
              <a:spcAft>
                <a:spcPts val="700"/>
              </a:spcAft>
              <a:defRPr sz="1600" b="0">
                <a:solidFill>
                  <a:srgbClr val="2D3748"/>
                </a:solidFill>
                <a:latin typeface="Aptos"/>
              </a:defRPr>
            </a:pPr>
            <a:r>
              <a:t>Key finding</a:t>
            </a:r>
          </a:p>
          <a:p>
            <a:pPr algn="l">
              <a:spcAft>
                <a:spcPts val="700"/>
              </a:spcAft>
              <a:defRPr sz="1600" b="0">
                <a:solidFill>
                  <a:srgbClr val="2D3748"/>
                </a:solidFill>
                <a:latin typeface="Aptos"/>
              </a:defRPr>
            </a:pPr>
            <a:r>
              <a:t>• Highest category: Coffee (269,952.45)</a:t>
            </a:r>
          </a:p>
          <a:p>
            <a:pPr algn="l">
              <a:spcAft>
                <a:spcPts val="700"/>
              </a:spcAft>
              <a:defRPr sz="1600" b="0">
                <a:solidFill>
                  <a:srgbClr val="2D3748"/>
                </a:solidFill>
                <a:latin typeface="Aptos"/>
              </a:defRPr>
            </a:pPr>
            <a:r>
              <a:t>• Second: Tea (196,405.95)</a:t>
            </a:r>
          </a:p>
          <a:p>
            <a:pPr algn="l">
              <a:spcAft>
                <a:spcPts val="700"/>
              </a:spcAft>
              <a:defRPr sz="1600" b="0">
                <a:solidFill>
                  <a:srgbClr val="2D3748"/>
                </a:solidFill>
                <a:latin typeface="Aptos"/>
              </a:defRPr>
            </a:pPr>
            <a:r>
              <a:t>• Third: Bakery (82,315.64)</a:t>
            </a:r>
          </a:p>
          <a:p>
            <a:pPr algn="l">
              <a:spcAft>
                <a:spcPts val="700"/>
              </a:spcAft>
              <a:defRPr sz="1600" b="0">
                <a:solidFill>
                  <a:srgbClr val="2D3748"/>
                </a:solidFill>
                <a:latin typeface="Aptos"/>
              </a:defRPr>
            </a:pPr>
            <a:endParaRPr/>
          </a:p>
          <a:p>
            <a:pPr algn="l">
              <a:spcAft>
                <a:spcPts val="700"/>
              </a:spcAft>
              <a:defRPr sz="1600" b="0">
                <a:solidFill>
                  <a:srgbClr val="2D3748"/>
                </a:solidFill>
                <a:latin typeface="Aptos"/>
              </a:defRPr>
            </a:pPr>
            <a:r>
              <a:t>Business implication</a:t>
            </a:r>
          </a:p>
          <a:p>
            <a:pPr algn="l">
              <a:spcAft>
                <a:spcPts val="700"/>
              </a:spcAft>
              <a:defRPr sz="1600" b="0">
                <a:solidFill>
                  <a:srgbClr val="2D3748"/>
                </a:solidFill>
                <a:latin typeface="Aptos"/>
              </a:defRPr>
            </a:pPr>
            <a:r>
              <a:t>Review category contribution alongside stock availability, margins and customer demand before planning promotions.</a:t>
            </a:r>
          </a:p>
        </p:txBody>
      </p:sp>
      <p:sp>
        <p:nvSpPr>
          <p:cNvPr id="7" name="TextBox 6"/>
          <p:cNvSpPr txBox="1"/>
          <p:nvPr/>
        </p:nvSpPr>
        <p:spPr>
          <a:xfrm>
            <a:off x="548640" y="6510528"/>
            <a:ext cx="10972800" cy="201168"/>
          </a:xfrm>
          <a:prstGeom prst="rect">
            <a:avLst/>
          </a:prstGeom>
          <a:noFill/>
        </p:spPr>
        <p:txBody>
          <a:bodyPr wrap="square" lIns="73152" tIns="36576" rIns="73152" bIns="36576">
            <a:spAutoFit/>
          </a:bodyPr>
          <a:lstStyle/>
          <a:p>
            <a:pPr algn="l">
              <a:spcAft>
                <a:spcPts val="700"/>
              </a:spcAft>
              <a:defRPr sz="800" b="0">
                <a:solidFill>
                  <a:srgbClr val="646E78"/>
                </a:solidFill>
                <a:latin typeface="Aptos"/>
              </a:defRPr>
            </a:pPr>
            <a:r>
              <a:t>Source: Bright Coffee Shop Sales dataset (Jan–Jun 2023). Revenue = transaction quantity × unit price; currency not confirmed.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1155680" cy="502920"/>
          </a:xfrm>
          <a:prstGeom prst="rect">
            <a:avLst/>
          </a:prstGeom>
          <a:noFill/>
        </p:spPr>
        <p:txBody>
          <a:bodyPr wrap="square" lIns="73152" tIns="36576" rIns="73152" bIns="36576">
            <a:spAutoFit/>
          </a:bodyPr>
          <a:lstStyle/>
          <a:p>
            <a:pPr algn="l">
              <a:spcAft>
                <a:spcPts val="700"/>
              </a:spcAft>
              <a:defRPr sz="2700" b="1">
                <a:solidFill>
                  <a:srgbClr val="17365D"/>
                </a:solidFill>
                <a:latin typeface="Aptos"/>
              </a:defRPr>
            </a:pPr>
            <a:r>
              <a:t>16. Top 10 Products by Revenue</a:t>
            </a:r>
          </a:p>
        </p:txBody>
      </p:sp>
      <p:sp>
        <p:nvSpPr>
          <p:cNvPr id="4" name="TextBox 3"/>
          <p:cNvSpPr txBox="1"/>
          <p:nvPr/>
        </p:nvSpPr>
        <p:spPr>
          <a:xfrm>
            <a:off x="530352" y="941832"/>
            <a:ext cx="10972800" cy="347472"/>
          </a:xfrm>
          <a:prstGeom prst="rect">
            <a:avLst/>
          </a:prstGeom>
          <a:noFill/>
        </p:spPr>
        <p:txBody>
          <a:bodyPr wrap="square" lIns="73152" tIns="36576" rIns="73152" bIns="36576">
            <a:spAutoFit/>
          </a:bodyPr>
          <a:lstStyle/>
          <a:p>
            <a:pPr algn="l">
              <a:spcAft>
                <a:spcPts val="700"/>
              </a:spcAft>
              <a:defRPr sz="1200" b="0">
                <a:solidFill>
                  <a:srgbClr val="646E78"/>
                </a:solidFill>
                <a:latin typeface="Aptos"/>
              </a:defRPr>
            </a:pPr>
            <a:r>
              <a:t>Ranked using product detail and quantity × unit price</a:t>
            </a:r>
          </a:p>
        </p:txBody>
      </p:sp>
      <p:graphicFrame>
        <p:nvGraphicFramePr>
          <p:cNvPr id="5" name="Chart 4"/>
          <p:cNvGraphicFramePr>
            <a:graphicFrameLocks noGrp="1"/>
          </p:cNvGraphicFramePr>
          <p:nvPr/>
        </p:nvGraphicFramePr>
        <p:xfrm>
          <a:off x="502920" y="1417320"/>
          <a:ext cx="7315200" cy="498348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8046720" y="1691640"/>
            <a:ext cx="3429000" cy="4389120"/>
          </a:xfrm>
          <a:prstGeom prst="rect">
            <a:avLst/>
          </a:prstGeom>
          <a:noFill/>
        </p:spPr>
        <p:txBody>
          <a:bodyPr wrap="square" lIns="73152" tIns="36576" rIns="73152" bIns="36576">
            <a:spAutoFit/>
          </a:bodyPr>
          <a:lstStyle/>
          <a:p>
            <a:pPr algn="l">
              <a:spcAft>
                <a:spcPts val="700"/>
              </a:spcAft>
              <a:defRPr sz="1600" b="0">
                <a:solidFill>
                  <a:srgbClr val="2D3748"/>
                </a:solidFill>
                <a:latin typeface="Aptos"/>
              </a:defRPr>
            </a:pPr>
            <a:r>
              <a:t>What this helps answer</a:t>
            </a:r>
          </a:p>
          <a:p>
            <a:pPr algn="l">
              <a:spcAft>
                <a:spcPts val="700"/>
              </a:spcAft>
              <a:defRPr sz="1600" b="0">
                <a:solidFill>
                  <a:srgbClr val="2D3748"/>
                </a:solidFill>
                <a:latin typeface="Aptos"/>
              </a:defRPr>
            </a:pPr>
            <a:r>
              <a:t>• Which specific product details generate the most revenue?</a:t>
            </a:r>
          </a:p>
          <a:p>
            <a:pPr algn="l">
              <a:spcAft>
                <a:spcPts val="700"/>
              </a:spcAft>
              <a:defRPr sz="1600" b="0">
                <a:solidFill>
                  <a:srgbClr val="2D3748"/>
                </a:solidFill>
                <a:latin typeface="Aptos"/>
              </a:defRPr>
            </a:pPr>
            <a:r>
              <a:t>• Which products may deserve closer stock monitoring?</a:t>
            </a:r>
          </a:p>
          <a:p>
            <a:pPr algn="l">
              <a:spcAft>
                <a:spcPts val="700"/>
              </a:spcAft>
              <a:defRPr sz="1600" b="0">
                <a:solidFill>
                  <a:srgbClr val="2D3748"/>
                </a:solidFill>
                <a:latin typeface="Aptos"/>
              </a:defRPr>
            </a:pPr>
            <a:r>
              <a:t>• Which products could be considered for targeted promotions?</a:t>
            </a:r>
          </a:p>
          <a:p>
            <a:pPr algn="l">
              <a:spcAft>
                <a:spcPts val="700"/>
              </a:spcAft>
              <a:defRPr sz="1600" b="0">
                <a:solidFill>
                  <a:srgbClr val="2D3748"/>
                </a:solidFill>
                <a:latin typeface="Aptos"/>
              </a:defRPr>
            </a:pPr>
            <a:endParaRPr/>
          </a:p>
          <a:p>
            <a:pPr algn="l">
              <a:spcAft>
                <a:spcPts val="700"/>
              </a:spcAft>
              <a:defRPr sz="1600" b="0">
                <a:solidFill>
                  <a:srgbClr val="2D3748"/>
                </a:solidFill>
                <a:latin typeface="Aptos"/>
              </a:defRPr>
            </a:pPr>
            <a:r>
              <a:t>Important: revenue is not the same as profit. Margin and product costs were not included in the dataset.</a:t>
            </a:r>
          </a:p>
        </p:txBody>
      </p:sp>
      <p:sp>
        <p:nvSpPr>
          <p:cNvPr id="7" name="TextBox 6"/>
          <p:cNvSpPr txBox="1"/>
          <p:nvPr/>
        </p:nvSpPr>
        <p:spPr>
          <a:xfrm>
            <a:off x="548640" y="6510528"/>
            <a:ext cx="10972800" cy="201168"/>
          </a:xfrm>
          <a:prstGeom prst="rect">
            <a:avLst/>
          </a:prstGeom>
          <a:noFill/>
        </p:spPr>
        <p:txBody>
          <a:bodyPr wrap="square" lIns="73152" tIns="36576" rIns="73152" bIns="36576">
            <a:spAutoFit/>
          </a:bodyPr>
          <a:lstStyle/>
          <a:p>
            <a:pPr algn="l">
              <a:spcAft>
                <a:spcPts val="700"/>
              </a:spcAft>
              <a:defRPr sz="800" b="0">
                <a:solidFill>
                  <a:srgbClr val="646E78"/>
                </a:solidFill>
                <a:latin typeface="Aptos"/>
              </a:defRPr>
            </a:pPr>
            <a:r>
              <a:t>Source: Bright Coffee Shop Sales dataset (Jan–Jun 2023). Revenue = transaction quantity × unit price; currency not confirmed.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1155680" cy="502920"/>
          </a:xfrm>
          <a:prstGeom prst="rect">
            <a:avLst/>
          </a:prstGeom>
          <a:noFill/>
        </p:spPr>
        <p:txBody>
          <a:bodyPr wrap="square" lIns="73152" tIns="36576" rIns="73152" bIns="36576">
            <a:spAutoFit/>
          </a:bodyPr>
          <a:lstStyle/>
          <a:p>
            <a:pPr algn="l">
              <a:spcAft>
                <a:spcPts val="700"/>
              </a:spcAft>
              <a:defRPr sz="2700" b="1">
                <a:solidFill>
                  <a:srgbClr val="17365D"/>
                </a:solidFill>
                <a:latin typeface="Aptos"/>
              </a:defRPr>
            </a:pPr>
            <a:r>
              <a:t>17. Revenue by Time of Day</a:t>
            </a:r>
          </a:p>
        </p:txBody>
      </p:sp>
      <p:sp>
        <p:nvSpPr>
          <p:cNvPr id="4" name="TextBox 3"/>
          <p:cNvSpPr txBox="1"/>
          <p:nvPr/>
        </p:nvSpPr>
        <p:spPr>
          <a:xfrm>
            <a:off x="530352" y="941832"/>
            <a:ext cx="10972800" cy="347472"/>
          </a:xfrm>
          <a:prstGeom prst="rect">
            <a:avLst/>
          </a:prstGeom>
          <a:noFill/>
        </p:spPr>
        <p:txBody>
          <a:bodyPr wrap="square" lIns="73152" tIns="36576" rIns="73152" bIns="36576">
            <a:spAutoFit/>
          </a:bodyPr>
          <a:lstStyle/>
          <a:p>
            <a:pPr algn="l">
              <a:spcAft>
                <a:spcPts val="700"/>
              </a:spcAft>
              <a:defRPr sz="1200" b="0">
                <a:solidFill>
                  <a:srgbClr val="646E78"/>
                </a:solidFill>
                <a:latin typeface="Aptos"/>
              </a:defRPr>
            </a:pPr>
            <a:r>
              <a:t>Time buckets calculated from transaction_time</a:t>
            </a:r>
          </a:p>
        </p:txBody>
      </p:sp>
      <p:graphicFrame>
        <p:nvGraphicFramePr>
          <p:cNvPr id="5" name="Chart 4"/>
          <p:cNvGraphicFramePr>
            <a:graphicFrameLocks noGrp="1"/>
          </p:cNvGraphicFramePr>
          <p:nvPr/>
        </p:nvGraphicFramePr>
        <p:xfrm>
          <a:off x="594360" y="1508760"/>
          <a:ext cx="6583680" cy="448056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452360" y="1737360"/>
            <a:ext cx="4069080" cy="4297680"/>
          </a:xfrm>
          <a:prstGeom prst="rect">
            <a:avLst/>
          </a:prstGeom>
          <a:noFill/>
        </p:spPr>
        <p:txBody>
          <a:bodyPr wrap="square" lIns="73152" tIns="36576" rIns="73152" bIns="36576">
            <a:spAutoFit/>
          </a:bodyPr>
          <a:lstStyle/>
          <a:p>
            <a:pPr algn="l">
              <a:spcAft>
                <a:spcPts val="700"/>
              </a:spcAft>
              <a:defRPr sz="1600" b="0">
                <a:solidFill>
                  <a:srgbClr val="2D3748"/>
                </a:solidFill>
                <a:latin typeface="Aptos"/>
              </a:defRPr>
            </a:pPr>
            <a:r>
              <a:t>How to use this result</a:t>
            </a:r>
          </a:p>
          <a:p>
            <a:pPr algn="l">
              <a:spcAft>
                <a:spcPts val="700"/>
              </a:spcAft>
              <a:defRPr sz="1600" b="0">
                <a:solidFill>
                  <a:srgbClr val="2D3748"/>
                </a:solidFill>
                <a:latin typeface="Aptos"/>
              </a:defRPr>
            </a:pPr>
            <a:r>
              <a:t>Compare revenue across the morning, afternoon and evening buckets to support staffing and service planning.</a:t>
            </a:r>
          </a:p>
          <a:p>
            <a:pPr algn="l">
              <a:spcAft>
                <a:spcPts val="700"/>
              </a:spcAft>
              <a:defRPr sz="1600" b="0">
                <a:solidFill>
                  <a:srgbClr val="2D3748"/>
                </a:solidFill>
                <a:latin typeface="Aptos"/>
              </a:defRPr>
            </a:pPr>
            <a:endParaRPr/>
          </a:p>
          <a:p>
            <a:pPr algn="l">
              <a:spcAft>
                <a:spcPts val="700"/>
              </a:spcAft>
              <a:defRPr sz="1600" b="0">
                <a:solidFill>
                  <a:srgbClr val="2D3748"/>
                </a:solidFill>
                <a:latin typeface="Aptos"/>
              </a:defRPr>
            </a:pPr>
            <a:r>
              <a:t>The supplied data records transactions from 06:00 to 20:59. Use the same time boundaries in Excel and SQL so the figures match.</a:t>
            </a:r>
          </a:p>
        </p:txBody>
      </p:sp>
      <p:sp>
        <p:nvSpPr>
          <p:cNvPr id="7" name="TextBox 6"/>
          <p:cNvSpPr txBox="1"/>
          <p:nvPr/>
        </p:nvSpPr>
        <p:spPr>
          <a:xfrm>
            <a:off x="548640" y="6510528"/>
            <a:ext cx="10972800" cy="201168"/>
          </a:xfrm>
          <a:prstGeom prst="rect">
            <a:avLst/>
          </a:prstGeom>
          <a:noFill/>
        </p:spPr>
        <p:txBody>
          <a:bodyPr wrap="square" lIns="73152" tIns="36576" rIns="73152" bIns="36576">
            <a:spAutoFit/>
          </a:bodyPr>
          <a:lstStyle/>
          <a:p>
            <a:pPr algn="l">
              <a:spcAft>
                <a:spcPts val="700"/>
              </a:spcAft>
              <a:defRPr sz="800" b="0">
                <a:solidFill>
                  <a:srgbClr val="646E78"/>
                </a:solidFill>
                <a:latin typeface="Aptos"/>
              </a:defRPr>
            </a:pPr>
            <a:r>
              <a:t>Source: Bright Coffee Shop Sales dataset (Jan–Jun 2023). Revenue = transaction quantity × unit price; currency not confirmed.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11155680" cy="502920"/>
          </a:xfrm>
          <a:prstGeom prst="rect">
            <a:avLst/>
          </a:prstGeom>
          <a:noFill/>
        </p:spPr>
        <p:txBody>
          <a:bodyPr wrap="square" lIns="73152" tIns="36576" rIns="73152" bIns="36576">
            <a:spAutoFit/>
          </a:bodyPr>
          <a:lstStyle/>
          <a:p>
            <a:pPr algn="l">
              <a:spcAft>
                <a:spcPts val="700"/>
              </a:spcAft>
              <a:defRPr sz="2700" b="1">
                <a:solidFill>
                  <a:srgbClr val="17365D"/>
                </a:solidFill>
                <a:latin typeface="Aptos"/>
              </a:defRPr>
            </a:pPr>
            <a:r>
              <a:t>18. Executive Summary Dashboard</a:t>
            </a:r>
          </a:p>
        </p:txBody>
      </p:sp>
      <p:sp>
        <p:nvSpPr>
          <p:cNvPr id="4" name="TextBox 3"/>
          <p:cNvSpPr txBox="1"/>
          <p:nvPr/>
        </p:nvSpPr>
        <p:spPr>
          <a:xfrm>
            <a:off x="530352" y="941832"/>
            <a:ext cx="10972800" cy="347472"/>
          </a:xfrm>
          <a:prstGeom prst="rect">
            <a:avLst/>
          </a:prstGeom>
          <a:noFill/>
        </p:spPr>
        <p:txBody>
          <a:bodyPr wrap="square" lIns="73152" tIns="36576" rIns="73152" bIns="36576">
            <a:spAutoFit/>
          </a:bodyPr>
          <a:lstStyle/>
          <a:p>
            <a:pPr algn="l">
              <a:spcAft>
                <a:spcPts val="700"/>
              </a:spcAft>
              <a:defRPr sz="1200" b="0">
                <a:solidFill>
                  <a:srgbClr val="646E78"/>
                </a:solidFill>
                <a:latin typeface="Aptos"/>
              </a:defRPr>
            </a:pPr>
            <a:r>
              <a:t>Verified headline KPIs and monthly revenue | Illustrative layout using actual CSV totals</a:t>
            </a:r>
          </a:p>
        </p:txBody>
      </p:sp>
      <p:sp>
        <p:nvSpPr>
          <p:cNvPr id="5" name="Rounded Rectangle 4"/>
          <p:cNvSpPr/>
          <p:nvPr/>
        </p:nvSpPr>
        <p:spPr>
          <a:xfrm>
            <a:off x="594360" y="1508760"/>
            <a:ext cx="2240280" cy="914400"/>
          </a:xfrm>
          <a:prstGeom prst="roundRect">
            <a:avLst/>
          </a:prstGeom>
          <a:solidFill>
            <a:srgbClr val="E6EF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65D"/>
                </a:solidFill>
              </a:defRPr>
            </a:pPr>
            <a:r>
              <a:t>TOTAL REVENUE</a:t>
            </a:r>
          </a:p>
          <a:p>
            <a:pPr algn="ctr">
              <a:defRPr sz="1700" b="1">
                <a:solidFill>
                  <a:srgbClr val="17365D"/>
                </a:solidFill>
              </a:defRPr>
            </a:pPr>
            <a:r>
              <a:t>698,812.33</a:t>
            </a:r>
          </a:p>
        </p:txBody>
      </p:sp>
      <p:sp>
        <p:nvSpPr>
          <p:cNvPr id="6" name="Rounded Rectangle 5"/>
          <p:cNvSpPr/>
          <p:nvPr/>
        </p:nvSpPr>
        <p:spPr>
          <a:xfrm>
            <a:off x="3520440" y="1508760"/>
            <a:ext cx="2240280" cy="914400"/>
          </a:xfrm>
          <a:prstGeom prst="roundRect">
            <a:avLst/>
          </a:prstGeom>
          <a:solidFill>
            <a:srgbClr val="E6EF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65D"/>
                </a:solidFill>
              </a:defRPr>
            </a:pPr>
            <a:r>
              <a:t>TRANSACTIONS</a:t>
            </a:r>
          </a:p>
          <a:p>
            <a:pPr algn="ctr">
              <a:defRPr sz="1700" b="1">
                <a:solidFill>
                  <a:srgbClr val="17365D"/>
                </a:solidFill>
              </a:defRPr>
            </a:pPr>
            <a:r>
              <a:t>149,116</a:t>
            </a:r>
          </a:p>
        </p:txBody>
      </p:sp>
      <p:sp>
        <p:nvSpPr>
          <p:cNvPr id="7" name="Rounded Rectangle 6"/>
          <p:cNvSpPr/>
          <p:nvPr/>
        </p:nvSpPr>
        <p:spPr>
          <a:xfrm>
            <a:off x="6446520" y="1508760"/>
            <a:ext cx="2240280" cy="914400"/>
          </a:xfrm>
          <a:prstGeom prst="roundRect">
            <a:avLst/>
          </a:prstGeom>
          <a:solidFill>
            <a:srgbClr val="E6EF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65D"/>
                </a:solidFill>
              </a:defRPr>
            </a:pPr>
            <a:r>
              <a:t>UNITS SOLD</a:t>
            </a:r>
          </a:p>
          <a:p>
            <a:pPr algn="ctr">
              <a:defRPr sz="1700" b="1">
                <a:solidFill>
                  <a:srgbClr val="17365D"/>
                </a:solidFill>
              </a:defRPr>
            </a:pPr>
            <a:r>
              <a:t>214,470</a:t>
            </a:r>
          </a:p>
        </p:txBody>
      </p:sp>
      <p:sp>
        <p:nvSpPr>
          <p:cNvPr id="8" name="Rounded Rectangle 7"/>
          <p:cNvSpPr/>
          <p:nvPr/>
        </p:nvSpPr>
        <p:spPr>
          <a:xfrm>
            <a:off x="9372600" y="1508760"/>
            <a:ext cx="2240280" cy="914400"/>
          </a:xfrm>
          <a:prstGeom prst="roundRect">
            <a:avLst/>
          </a:prstGeom>
          <a:solidFill>
            <a:srgbClr val="E6EFF8"/>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65D"/>
                </a:solidFill>
              </a:defRPr>
            </a:pPr>
            <a:r>
              <a:t>STORES</a:t>
            </a:r>
          </a:p>
          <a:p>
            <a:pPr algn="ctr">
              <a:defRPr sz="1700" b="1">
                <a:solidFill>
                  <a:srgbClr val="17365D"/>
                </a:solidFill>
              </a:defRPr>
            </a:pPr>
            <a:r>
              <a:t>3</a:t>
            </a:r>
          </a:p>
        </p:txBody>
      </p:sp>
      <p:graphicFrame>
        <p:nvGraphicFramePr>
          <p:cNvPr id="9" name="Chart 8"/>
          <p:cNvGraphicFramePr>
            <a:graphicFrameLocks noGrp="1"/>
          </p:cNvGraphicFramePr>
          <p:nvPr/>
        </p:nvGraphicFramePr>
        <p:xfrm>
          <a:off x="594360" y="2743200"/>
          <a:ext cx="658368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7452360" y="2971800"/>
            <a:ext cx="3931920" cy="3017520"/>
          </a:xfrm>
          <a:prstGeom prst="rect">
            <a:avLst/>
          </a:prstGeom>
          <a:noFill/>
        </p:spPr>
        <p:txBody>
          <a:bodyPr wrap="square" lIns="73152" tIns="36576" rIns="73152" bIns="36576">
            <a:spAutoFit/>
          </a:bodyPr>
          <a:lstStyle/>
          <a:p>
            <a:pPr algn="l">
              <a:spcAft>
                <a:spcPts val="700"/>
              </a:spcAft>
              <a:defRPr sz="1600" b="0">
                <a:solidFill>
                  <a:srgbClr val="2D3748"/>
                </a:solidFill>
                <a:latin typeface="Aptos"/>
              </a:defRPr>
            </a:pPr>
            <a:r>
              <a:t>Headline insights</a:t>
            </a:r>
          </a:p>
          <a:p>
            <a:pPr algn="l">
              <a:spcAft>
                <a:spcPts val="700"/>
              </a:spcAft>
              <a:defRPr sz="1600" b="0">
                <a:solidFill>
                  <a:srgbClr val="2D3748"/>
                </a:solidFill>
                <a:latin typeface="Aptos"/>
              </a:defRPr>
            </a:pPr>
            <a:r>
              <a:t>• June was the highest-revenue month.</a:t>
            </a:r>
          </a:p>
          <a:p>
            <a:pPr algn="l">
              <a:spcAft>
                <a:spcPts val="700"/>
              </a:spcAft>
              <a:defRPr sz="1600" b="0">
                <a:solidFill>
                  <a:srgbClr val="2D3748"/>
                </a:solidFill>
                <a:latin typeface="Aptos"/>
              </a:defRPr>
            </a:pPr>
            <a:r>
              <a:t>• February was the lowest-revenue month.</a:t>
            </a:r>
          </a:p>
          <a:p>
            <a:pPr algn="l">
              <a:spcAft>
                <a:spcPts val="700"/>
              </a:spcAft>
              <a:defRPr sz="1600" b="0">
                <a:solidFill>
                  <a:srgbClr val="2D3748"/>
                </a:solidFill>
                <a:latin typeface="Aptos"/>
              </a:defRPr>
            </a:pPr>
            <a:r>
              <a:t>• All three stores contributed similar revenue totals.</a:t>
            </a:r>
          </a:p>
          <a:p>
            <a:pPr algn="l">
              <a:spcAft>
                <a:spcPts val="700"/>
              </a:spcAft>
              <a:defRPr sz="1600" b="0">
                <a:solidFill>
                  <a:srgbClr val="2D3748"/>
                </a:solidFill>
                <a:latin typeface="Aptos"/>
              </a:defRPr>
            </a:pPr>
            <a:r>
              <a:t>• Coffee and Tea were the largest revenue categories.</a:t>
            </a:r>
          </a:p>
          <a:p>
            <a:pPr algn="l">
              <a:spcAft>
                <a:spcPts val="700"/>
              </a:spcAft>
              <a:defRPr sz="1600" b="0">
                <a:solidFill>
                  <a:srgbClr val="2D3748"/>
                </a:solidFill>
                <a:latin typeface="Aptos"/>
              </a:defRPr>
            </a:pPr>
            <a:endParaRPr/>
          </a:p>
          <a:p>
            <a:pPr algn="l">
              <a:spcAft>
                <a:spcPts val="700"/>
              </a:spcAft>
              <a:defRPr sz="1600" b="0">
                <a:solidFill>
                  <a:srgbClr val="2D3748"/>
                </a:solidFill>
                <a:latin typeface="Aptos"/>
              </a:defRPr>
            </a:pPr>
            <a:r>
              <a:t>Use the Excel dashboard for filters and detailed exploration.</a:t>
            </a:r>
          </a:p>
        </p:txBody>
      </p:sp>
      <p:sp>
        <p:nvSpPr>
          <p:cNvPr id="11" name="TextBox 10"/>
          <p:cNvSpPr txBox="1"/>
          <p:nvPr/>
        </p:nvSpPr>
        <p:spPr>
          <a:xfrm>
            <a:off x="548640" y="6510528"/>
            <a:ext cx="10972800" cy="201168"/>
          </a:xfrm>
          <a:prstGeom prst="rect">
            <a:avLst/>
          </a:prstGeom>
          <a:noFill/>
        </p:spPr>
        <p:txBody>
          <a:bodyPr wrap="square" lIns="73152" tIns="36576" rIns="73152" bIns="36576">
            <a:spAutoFit/>
          </a:bodyPr>
          <a:lstStyle/>
          <a:p>
            <a:pPr algn="l">
              <a:spcAft>
                <a:spcPts val="700"/>
              </a:spcAft>
              <a:defRPr sz="800" b="0">
                <a:solidFill>
                  <a:srgbClr val="646E78"/>
                </a:solidFill>
                <a:latin typeface="Aptos"/>
              </a:defRPr>
            </a:pPr>
            <a:r>
              <a:t>Source: Bright Coffee Shop Sales dataset (Jan–Jun 2023). Revenue = transaction quantity × unit price; currency not confirmed.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defRPr sz="2600" b="1">
                <a:solidFill>
                  <a:srgbClr val="1F3750"/>
                </a:solidFill>
                <a:latin typeface="Aptos Display"/>
              </a:defRPr>
            </a:pPr>
            <a:r>
              <a:t>19. Revenue by Day of the Week</a:t>
            </a:r>
          </a:p>
        </p:txBody>
      </p:sp>
      <p:sp>
        <p:nvSpPr>
          <p:cNvPr id="3" name="TextBox 2"/>
          <p:cNvSpPr txBox="1"/>
          <p:nvPr/>
        </p:nvSpPr>
        <p:spPr>
          <a:xfrm>
            <a:off x="548640" y="777240"/>
            <a:ext cx="10972800" cy="365760"/>
          </a:xfrm>
          <a:prstGeom prst="rect">
            <a:avLst/>
          </a:prstGeom>
          <a:noFill/>
        </p:spPr>
        <p:txBody>
          <a:bodyPr wrap="none">
            <a:spAutoFit/>
          </a:bodyPr>
          <a:lstStyle/>
          <a:p>
            <a:pPr>
              <a:defRPr sz="1200">
                <a:solidFill>
                  <a:srgbClr val="505050"/>
                </a:solidFill>
              </a:defRPr>
            </a:pPr>
            <a:r>
              <a:t>Compare total revenue across weekdays to identify stronger and weaker trading days.</a:t>
            </a:r>
          </a:p>
        </p:txBody>
      </p:sp>
      <p:pic>
        <p:nvPicPr>
          <p:cNvPr id="4" name="Picture 3" descr="graph_revenue_by_weekday.png"/>
          <p:cNvPicPr>
            <a:picLocks noChangeAspect="1"/>
          </p:cNvPicPr>
          <p:nvPr/>
        </p:nvPicPr>
        <p:blipFill>
          <a:blip r:embed="rId2"/>
          <a:stretch>
            <a:fillRect/>
          </a:stretch>
        </p:blipFill>
        <p:spPr>
          <a:xfrm>
            <a:off x="960120" y="1188720"/>
            <a:ext cx="10241280" cy="4343400"/>
          </a:xfrm>
          <a:prstGeom prst="rect">
            <a:avLst/>
          </a:prstGeom>
        </p:spPr>
      </p:pic>
      <p:sp>
        <p:nvSpPr>
          <p:cNvPr id="5" name="TextBox 4"/>
          <p:cNvSpPr txBox="1"/>
          <p:nvPr/>
        </p:nvSpPr>
        <p:spPr>
          <a:xfrm>
            <a:off x="685800" y="5623560"/>
            <a:ext cx="10881360" cy="594360"/>
          </a:xfrm>
          <a:prstGeom prst="rect">
            <a:avLst/>
          </a:prstGeom>
          <a:noFill/>
        </p:spPr>
        <p:txBody>
          <a:bodyPr wrap="square">
            <a:spAutoFit/>
          </a:bodyPr>
          <a:lstStyle/>
          <a:p>
            <a:pPr>
              <a:defRPr sz="1500" b="1">
                <a:solidFill>
                  <a:srgbClr val="1F3750"/>
                </a:solidFill>
              </a:defRPr>
            </a:pPr>
            <a:r>
              <a:t>Key finding: Highest day: Monday (101,677.28). Lowest day: Saturday (96,894.48).</a:t>
            </a:r>
          </a:p>
        </p:txBody>
      </p:sp>
      <p:sp>
        <p:nvSpPr>
          <p:cNvPr id="6" name="TextBox 5"/>
          <p:cNvSpPr txBox="1"/>
          <p:nvPr/>
        </p:nvSpPr>
        <p:spPr>
          <a:xfrm>
            <a:off x="685800" y="6446520"/>
            <a:ext cx="10789920" cy="182880"/>
          </a:xfrm>
          <a:prstGeom prst="rect">
            <a:avLst/>
          </a:prstGeom>
          <a:noFill/>
        </p:spPr>
        <p:txBody>
          <a:bodyPr wrap="none">
            <a:spAutoFit/>
          </a:bodyPr>
          <a:lstStyle/>
          <a:p>
            <a:pPr>
              <a:defRPr sz="800">
                <a:solidFill>
                  <a:srgbClr val="6E6E6E"/>
                </a:solidFill>
              </a:defRPr>
            </a:pPr>
            <a:r>
              <a:t>Source: Bright Coffee Shop Sales dataset | January–June 2023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defRPr sz="2600" b="1">
                <a:solidFill>
                  <a:srgbClr val="1F3750"/>
                </a:solidFill>
                <a:latin typeface="Aptos Display"/>
              </a:defRPr>
            </a:pPr>
            <a:r>
              <a:t>20. Transaction Volume by Month</a:t>
            </a:r>
          </a:p>
        </p:txBody>
      </p:sp>
      <p:sp>
        <p:nvSpPr>
          <p:cNvPr id="3" name="TextBox 2"/>
          <p:cNvSpPr txBox="1"/>
          <p:nvPr/>
        </p:nvSpPr>
        <p:spPr>
          <a:xfrm>
            <a:off x="548640" y="777240"/>
            <a:ext cx="10972800" cy="365760"/>
          </a:xfrm>
          <a:prstGeom prst="rect">
            <a:avLst/>
          </a:prstGeom>
          <a:noFill/>
        </p:spPr>
        <p:txBody>
          <a:bodyPr wrap="none">
            <a:spAutoFit/>
          </a:bodyPr>
          <a:lstStyle/>
          <a:p>
            <a:pPr>
              <a:defRPr sz="1200">
                <a:solidFill>
                  <a:srgbClr val="505050"/>
                </a:solidFill>
              </a:defRPr>
            </a:pPr>
            <a:r>
              <a:t>Transaction counts show whether the revenue trend also reflects changes in customer activity.</a:t>
            </a:r>
          </a:p>
        </p:txBody>
      </p:sp>
      <p:pic>
        <p:nvPicPr>
          <p:cNvPr id="4" name="Picture 3" descr="graph_transactions_by_month.png"/>
          <p:cNvPicPr>
            <a:picLocks noChangeAspect="1"/>
          </p:cNvPicPr>
          <p:nvPr/>
        </p:nvPicPr>
        <p:blipFill>
          <a:blip r:embed="rId2"/>
          <a:stretch>
            <a:fillRect/>
          </a:stretch>
        </p:blipFill>
        <p:spPr>
          <a:xfrm>
            <a:off x="960120" y="1188720"/>
            <a:ext cx="10241280" cy="4343400"/>
          </a:xfrm>
          <a:prstGeom prst="rect">
            <a:avLst/>
          </a:prstGeom>
        </p:spPr>
      </p:pic>
      <p:sp>
        <p:nvSpPr>
          <p:cNvPr id="5" name="TextBox 4"/>
          <p:cNvSpPr txBox="1"/>
          <p:nvPr/>
        </p:nvSpPr>
        <p:spPr>
          <a:xfrm>
            <a:off x="685800" y="5623560"/>
            <a:ext cx="10881360" cy="594360"/>
          </a:xfrm>
          <a:prstGeom prst="rect">
            <a:avLst/>
          </a:prstGeom>
          <a:noFill/>
        </p:spPr>
        <p:txBody>
          <a:bodyPr wrap="square">
            <a:spAutoFit/>
          </a:bodyPr>
          <a:lstStyle/>
          <a:p>
            <a:pPr>
              <a:defRPr sz="1500" b="1">
                <a:solidFill>
                  <a:srgbClr val="1F3750"/>
                </a:solidFill>
              </a:defRPr>
            </a:pPr>
            <a:r>
              <a:t>Key finding: Highest transaction month: Jun (35,352 transactions).</a:t>
            </a:r>
          </a:p>
        </p:txBody>
      </p:sp>
      <p:sp>
        <p:nvSpPr>
          <p:cNvPr id="6" name="TextBox 5"/>
          <p:cNvSpPr txBox="1"/>
          <p:nvPr/>
        </p:nvSpPr>
        <p:spPr>
          <a:xfrm>
            <a:off x="685800" y="6446520"/>
            <a:ext cx="10789920" cy="182880"/>
          </a:xfrm>
          <a:prstGeom prst="rect">
            <a:avLst/>
          </a:prstGeom>
          <a:noFill/>
        </p:spPr>
        <p:txBody>
          <a:bodyPr wrap="none">
            <a:spAutoFit/>
          </a:bodyPr>
          <a:lstStyle/>
          <a:p>
            <a:pPr>
              <a:defRPr sz="800">
                <a:solidFill>
                  <a:srgbClr val="6E6E6E"/>
                </a:solidFill>
              </a:defRPr>
            </a:pPr>
            <a:r>
              <a:t>Source: Bright Coffee Shop Sales dataset | January–June 2023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defRPr sz="2600" b="1">
                <a:solidFill>
                  <a:srgbClr val="1F3750"/>
                </a:solidFill>
                <a:latin typeface="Aptos Display"/>
              </a:defRPr>
            </a:pPr>
            <a:r>
              <a:t>21. Units Sold by Product Category</a:t>
            </a:r>
          </a:p>
        </p:txBody>
      </p:sp>
      <p:sp>
        <p:nvSpPr>
          <p:cNvPr id="3" name="TextBox 2"/>
          <p:cNvSpPr txBox="1"/>
          <p:nvPr/>
        </p:nvSpPr>
        <p:spPr>
          <a:xfrm>
            <a:off x="548640" y="777240"/>
            <a:ext cx="10972800" cy="365760"/>
          </a:xfrm>
          <a:prstGeom prst="rect">
            <a:avLst/>
          </a:prstGeom>
          <a:noFill/>
        </p:spPr>
        <p:txBody>
          <a:bodyPr wrap="none">
            <a:spAutoFit/>
          </a:bodyPr>
          <a:lstStyle/>
          <a:p>
            <a:pPr>
              <a:defRPr sz="1200">
                <a:solidFill>
                  <a:srgbClr val="505050"/>
                </a:solidFill>
              </a:defRPr>
            </a:pPr>
            <a:r>
              <a:t>Unit volume complements revenue: a category can sell many items without having the highest revenue per item.</a:t>
            </a:r>
          </a:p>
        </p:txBody>
      </p:sp>
      <p:pic>
        <p:nvPicPr>
          <p:cNvPr id="4" name="Picture 3" descr="graph_units_by_category.png"/>
          <p:cNvPicPr>
            <a:picLocks noChangeAspect="1"/>
          </p:cNvPicPr>
          <p:nvPr/>
        </p:nvPicPr>
        <p:blipFill>
          <a:blip r:embed="rId2"/>
          <a:stretch>
            <a:fillRect/>
          </a:stretch>
        </p:blipFill>
        <p:spPr>
          <a:xfrm>
            <a:off x="960120" y="1188720"/>
            <a:ext cx="10241280" cy="4343400"/>
          </a:xfrm>
          <a:prstGeom prst="rect">
            <a:avLst/>
          </a:prstGeom>
        </p:spPr>
      </p:pic>
      <p:sp>
        <p:nvSpPr>
          <p:cNvPr id="5" name="TextBox 4"/>
          <p:cNvSpPr txBox="1"/>
          <p:nvPr/>
        </p:nvSpPr>
        <p:spPr>
          <a:xfrm>
            <a:off x="685800" y="5623560"/>
            <a:ext cx="10881360" cy="594360"/>
          </a:xfrm>
          <a:prstGeom prst="rect">
            <a:avLst/>
          </a:prstGeom>
          <a:noFill/>
        </p:spPr>
        <p:txBody>
          <a:bodyPr wrap="square">
            <a:spAutoFit/>
          </a:bodyPr>
          <a:lstStyle/>
          <a:p>
            <a:pPr>
              <a:defRPr sz="1500" b="1">
                <a:solidFill>
                  <a:srgbClr val="1F3750"/>
                </a:solidFill>
              </a:defRPr>
            </a:pPr>
            <a:r>
              <a:t>Key finding: Highest unit volume category: Coffee (89,250 units).</a:t>
            </a:r>
          </a:p>
        </p:txBody>
      </p:sp>
      <p:sp>
        <p:nvSpPr>
          <p:cNvPr id="6" name="TextBox 5"/>
          <p:cNvSpPr txBox="1"/>
          <p:nvPr/>
        </p:nvSpPr>
        <p:spPr>
          <a:xfrm>
            <a:off x="685800" y="6446520"/>
            <a:ext cx="10789920" cy="182880"/>
          </a:xfrm>
          <a:prstGeom prst="rect">
            <a:avLst/>
          </a:prstGeom>
          <a:noFill/>
        </p:spPr>
        <p:txBody>
          <a:bodyPr wrap="none">
            <a:spAutoFit/>
          </a:bodyPr>
          <a:lstStyle/>
          <a:p>
            <a:pPr>
              <a:defRPr sz="800">
                <a:solidFill>
                  <a:srgbClr val="6E6E6E"/>
                </a:solidFill>
              </a:defRPr>
            </a:pPr>
            <a:r>
              <a:t>Source: Bright Coffee Shop Sales dataset | January–June 2023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502920"/>
          </a:xfrm>
          <a:prstGeom prst="rect">
            <a:avLst/>
          </a:prstGeom>
          <a:noFill/>
        </p:spPr>
        <p:txBody>
          <a:bodyPr wrap="none">
            <a:spAutoFit/>
          </a:bodyPr>
          <a:lstStyle/>
          <a:p>
            <a:pPr>
              <a:defRPr sz="2600" b="1">
                <a:solidFill>
                  <a:srgbClr val="1F3750"/>
                </a:solidFill>
                <a:latin typeface="Aptos Display"/>
              </a:defRPr>
            </a:pPr>
            <a:r>
              <a:t>22. Revenue by Hour of Day</a:t>
            </a:r>
          </a:p>
        </p:txBody>
      </p:sp>
      <p:sp>
        <p:nvSpPr>
          <p:cNvPr id="3" name="TextBox 2"/>
          <p:cNvSpPr txBox="1"/>
          <p:nvPr/>
        </p:nvSpPr>
        <p:spPr>
          <a:xfrm>
            <a:off x="548640" y="777240"/>
            <a:ext cx="10972800" cy="365760"/>
          </a:xfrm>
          <a:prstGeom prst="rect">
            <a:avLst/>
          </a:prstGeom>
          <a:noFill/>
        </p:spPr>
        <p:txBody>
          <a:bodyPr wrap="none">
            <a:spAutoFit/>
          </a:bodyPr>
          <a:lstStyle/>
          <a:p>
            <a:pPr>
              <a:defRPr sz="1200">
                <a:solidFill>
                  <a:srgbClr val="505050"/>
                </a:solidFill>
              </a:defRPr>
            </a:pPr>
            <a:r>
              <a:t>Hourly revenue helps inform staffing and product-preparation decisions during busier periods.</a:t>
            </a:r>
          </a:p>
        </p:txBody>
      </p:sp>
      <p:pic>
        <p:nvPicPr>
          <p:cNvPr id="4" name="Picture 3" descr="graph_revenue_by_hour.png"/>
          <p:cNvPicPr>
            <a:picLocks noChangeAspect="1"/>
          </p:cNvPicPr>
          <p:nvPr/>
        </p:nvPicPr>
        <p:blipFill>
          <a:blip r:embed="rId2"/>
          <a:stretch>
            <a:fillRect/>
          </a:stretch>
        </p:blipFill>
        <p:spPr>
          <a:xfrm>
            <a:off x="960120" y="1188720"/>
            <a:ext cx="10241280" cy="4343400"/>
          </a:xfrm>
          <a:prstGeom prst="rect">
            <a:avLst/>
          </a:prstGeom>
        </p:spPr>
      </p:pic>
      <p:sp>
        <p:nvSpPr>
          <p:cNvPr id="5" name="TextBox 4"/>
          <p:cNvSpPr txBox="1"/>
          <p:nvPr/>
        </p:nvSpPr>
        <p:spPr>
          <a:xfrm>
            <a:off x="685800" y="5623560"/>
            <a:ext cx="10881360" cy="594360"/>
          </a:xfrm>
          <a:prstGeom prst="rect">
            <a:avLst/>
          </a:prstGeom>
          <a:noFill/>
        </p:spPr>
        <p:txBody>
          <a:bodyPr wrap="square">
            <a:spAutoFit/>
          </a:bodyPr>
          <a:lstStyle/>
          <a:p>
            <a:pPr>
              <a:defRPr sz="1500" b="1">
                <a:solidFill>
                  <a:srgbClr val="1F3750"/>
                </a:solidFill>
              </a:defRPr>
            </a:pPr>
            <a:r>
              <a:t>Key finding: Peak revenue hour: 10:00 (88,673.39).</a:t>
            </a:r>
          </a:p>
        </p:txBody>
      </p:sp>
      <p:sp>
        <p:nvSpPr>
          <p:cNvPr id="6" name="TextBox 5"/>
          <p:cNvSpPr txBox="1"/>
          <p:nvPr/>
        </p:nvSpPr>
        <p:spPr>
          <a:xfrm>
            <a:off x="685800" y="6446520"/>
            <a:ext cx="10789920" cy="182880"/>
          </a:xfrm>
          <a:prstGeom prst="rect">
            <a:avLst/>
          </a:prstGeom>
          <a:noFill/>
        </p:spPr>
        <p:txBody>
          <a:bodyPr wrap="none">
            <a:spAutoFit/>
          </a:bodyPr>
          <a:lstStyle/>
          <a:p>
            <a:pPr>
              <a:defRPr sz="800">
                <a:solidFill>
                  <a:srgbClr val="6E6E6E"/>
                </a:solidFill>
              </a:defRPr>
            </a:pPr>
            <a:r>
              <a:t>Source: Bright Coffee Shop Sales dataset | January–June 2023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85800"/>
            <a:ext cx="10698480" cy="457200"/>
          </a:xfrm>
          <a:prstGeom prst="rect">
            <a:avLst/>
          </a:prstGeom>
          <a:noFill/>
        </p:spPr>
        <p:txBody>
          <a:bodyPr wrap="square" lIns="45720" tIns="27432" rIns="45720" bIns="27432">
            <a:spAutoFit/>
          </a:bodyPr>
          <a:lstStyle/>
          <a:p>
            <a:pPr>
              <a:spcAft>
                <a:spcPts val="800"/>
              </a:spcAft>
              <a:defRPr sz="1400" b="1">
                <a:solidFill>
                  <a:srgbClr val="EEB13F"/>
                </a:solidFill>
                <a:latin typeface="Aptos"/>
              </a:defRPr>
            </a:pPr>
            <a:r>
              <a:t>CONCLUSION</a:t>
            </a:r>
          </a:p>
        </p:txBody>
      </p:sp>
      <p:sp>
        <p:nvSpPr>
          <p:cNvPr id="4" name="TextBox 3"/>
          <p:cNvSpPr txBox="1"/>
          <p:nvPr/>
        </p:nvSpPr>
        <p:spPr>
          <a:xfrm>
            <a:off x="731520" y="1417320"/>
            <a:ext cx="10515600" cy="1097280"/>
          </a:xfrm>
          <a:prstGeom prst="rect">
            <a:avLst/>
          </a:prstGeom>
          <a:noFill/>
        </p:spPr>
        <p:txBody>
          <a:bodyPr wrap="square" lIns="45720" tIns="27432" rIns="45720" bIns="27432">
            <a:spAutoFit/>
          </a:bodyPr>
          <a:lstStyle/>
          <a:p>
            <a:pPr>
              <a:spcAft>
                <a:spcPts val="800"/>
              </a:spcAft>
              <a:defRPr sz="3000" b="1">
                <a:solidFill>
                  <a:srgbClr val="FFFFFF"/>
                </a:solidFill>
                <a:latin typeface="Aptos"/>
              </a:defRPr>
            </a:pPr>
            <a:r>
              <a:t>Turning sales data into business insight</a:t>
            </a:r>
          </a:p>
        </p:txBody>
      </p:sp>
      <p:sp>
        <p:nvSpPr>
          <p:cNvPr id="5" name="TextBox 4"/>
          <p:cNvSpPr txBox="1"/>
          <p:nvPr/>
        </p:nvSpPr>
        <p:spPr>
          <a:xfrm>
            <a:off x="777240" y="2743200"/>
            <a:ext cx="9875520" cy="1234440"/>
          </a:xfrm>
          <a:prstGeom prst="rect">
            <a:avLst/>
          </a:prstGeom>
          <a:noFill/>
        </p:spPr>
        <p:txBody>
          <a:bodyPr wrap="square" lIns="45720" tIns="27432" rIns="45720" bIns="27432">
            <a:spAutoFit/>
          </a:bodyPr>
          <a:lstStyle/>
          <a:p>
            <a:pPr>
              <a:spcAft>
                <a:spcPts val="800"/>
              </a:spcAft>
              <a:defRPr sz="2000" b="0">
                <a:solidFill>
                  <a:srgbClr val="DFE9F3"/>
                </a:solidFill>
                <a:latin typeface="Aptos"/>
              </a:defRPr>
            </a:pPr>
            <a:r>
              <a:t>This project demonstrates how transaction data can be prepared, analysed with SQL, summarised in Excel and communicated through visualisations. The main trend is stronger monthly revenue toward the end of the reporting period.</a:t>
            </a:r>
          </a:p>
        </p:txBody>
      </p:sp>
      <p:sp>
        <p:nvSpPr>
          <p:cNvPr id="6" name="TextBox 5"/>
          <p:cNvSpPr txBox="1"/>
          <p:nvPr/>
        </p:nvSpPr>
        <p:spPr>
          <a:xfrm>
            <a:off x="777240" y="4892040"/>
            <a:ext cx="9875520" cy="457200"/>
          </a:xfrm>
          <a:prstGeom prst="rect">
            <a:avLst/>
          </a:prstGeom>
          <a:noFill/>
        </p:spPr>
        <p:txBody>
          <a:bodyPr wrap="square" lIns="45720" tIns="27432" rIns="45720" bIns="27432">
            <a:spAutoFit/>
          </a:bodyPr>
          <a:lstStyle/>
          <a:p>
            <a:pPr>
              <a:spcAft>
                <a:spcPts val="800"/>
              </a:spcAft>
              <a:defRPr sz="2300" b="1">
                <a:solidFill>
                  <a:srgbClr val="EEB13F"/>
                </a:solidFill>
                <a:latin typeface="Aptos"/>
              </a:defRPr>
            </a:pPr>
            <a:r>
              <a:t>Thank you</a:t>
            </a:r>
          </a:p>
        </p:txBody>
      </p:sp>
      <p:sp>
        <p:nvSpPr>
          <p:cNvPr id="7" name="TextBox 6"/>
          <p:cNvSpPr txBox="1"/>
          <p:nvPr/>
        </p:nvSpPr>
        <p:spPr>
          <a:xfrm>
            <a:off x="777240" y="5623560"/>
            <a:ext cx="9875520" cy="320040"/>
          </a:xfrm>
          <a:prstGeom prst="rect">
            <a:avLst/>
          </a:prstGeom>
          <a:noFill/>
        </p:spPr>
        <p:txBody>
          <a:bodyPr wrap="square" lIns="45720" tIns="27432" rIns="45720" bIns="27432">
            <a:spAutoFit/>
          </a:bodyPr>
          <a:lstStyle/>
          <a:p>
            <a:pPr>
              <a:spcAft>
                <a:spcPts val="800"/>
              </a:spcAft>
              <a:defRPr sz="1300" b="0">
                <a:solidFill>
                  <a:srgbClr val="DFE9F3"/>
                </a:solidFill>
                <a:latin typeface="Aptos"/>
              </a:defRPr>
            </a:pPr>
            <a:r>
              <a:t>Questions and discussion</a:t>
            </a:r>
          </a:p>
        </p:txBody>
      </p:sp>
      <p:sp>
        <p:nvSpPr>
          <p:cNvPr id="8" name="Rectangle 7"/>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0"/>
            <a:ext cx="10698480" cy="914400"/>
          </a:xfrm>
          <a:prstGeom prst="rect">
            <a:avLst/>
          </a:prstGeom>
          <a:noFill/>
        </p:spPr>
        <p:txBody>
          <a:bodyPr wrap="square" lIns="45720" tIns="27432" rIns="45720" bIns="27432">
            <a:spAutoFit/>
          </a:bodyPr>
          <a:lstStyle/>
          <a:p>
            <a:pPr algn="ctr">
              <a:spcAft>
                <a:spcPts val="800"/>
              </a:spcAft>
              <a:defRPr sz="3800" b="1">
                <a:solidFill>
                  <a:srgbClr val="12253F"/>
                </a:solidFill>
                <a:latin typeface="Aptos"/>
              </a:defRPr>
            </a:pPr>
            <a:r>
              <a:t>QUESTIONS?</a:t>
            </a:r>
          </a:p>
        </p:txBody>
      </p:sp>
      <p:sp>
        <p:nvSpPr>
          <p:cNvPr id="4" name="TextBox 3"/>
          <p:cNvSpPr txBox="1"/>
          <p:nvPr/>
        </p:nvSpPr>
        <p:spPr>
          <a:xfrm>
            <a:off x="1280160" y="2880360"/>
            <a:ext cx="9601200" cy="731520"/>
          </a:xfrm>
          <a:prstGeom prst="rect">
            <a:avLst/>
          </a:prstGeom>
          <a:noFill/>
        </p:spPr>
        <p:txBody>
          <a:bodyPr wrap="square" lIns="45720" tIns="27432" rIns="45720" bIns="27432">
            <a:spAutoFit/>
          </a:bodyPr>
          <a:lstStyle/>
          <a:p>
            <a:pPr algn="ctr">
              <a:spcAft>
                <a:spcPts val="800"/>
              </a:spcAft>
              <a:defRPr sz="2200" b="1">
                <a:solidFill>
                  <a:srgbClr val="2B67AB"/>
                </a:solidFill>
                <a:latin typeface="Aptos"/>
              </a:defRPr>
            </a:pPr>
            <a:r>
              <a:t>Bright Coffee Shop Sales Analysis</a:t>
            </a:r>
          </a:p>
        </p:txBody>
      </p:sp>
      <p:sp>
        <p:nvSpPr>
          <p:cNvPr id="5" name="TextBox 4"/>
          <p:cNvSpPr txBox="1"/>
          <p:nvPr/>
        </p:nvSpPr>
        <p:spPr>
          <a:xfrm>
            <a:off x="1280160" y="3749039"/>
            <a:ext cx="9601200" cy="594360"/>
          </a:xfrm>
          <a:prstGeom prst="rect">
            <a:avLst/>
          </a:prstGeom>
          <a:noFill/>
        </p:spPr>
        <p:txBody>
          <a:bodyPr wrap="square" lIns="45720" tIns="27432" rIns="45720" bIns="27432">
            <a:spAutoFit/>
          </a:bodyPr>
          <a:lstStyle/>
          <a:p>
            <a:pPr algn="ctr">
              <a:spcAft>
                <a:spcPts val="800"/>
              </a:spcAft>
              <a:defRPr sz="1600" b="0">
                <a:solidFill>
                  <a:srgbClr val="637180"/>
                </a:solidFill>
                <a:latin typeface="Aptos"/>
              </a:defRPr>
            </a:pPr>
            <a:r>
              <a:t>January – June 2023</a:t>
            </a:r>
          </a:p>
        </p:txBody>
      </p:sp>
      <p:sp>
        <p:nvSpPr>
          <p:cNvPr id="6" name="TextBox 5"/>
          <p:cNvSpPr txBox="1"/>
          <p:nvPr/>
        </p:nvSpPr>
        <p:spPr>
          <a:xfrm>
            <a:off x="1280160" y="5166360"/>
            <a:ext cx="9601200" cy="411480"/>
          </a:xfrm>
          <a:prstGeom prst="rect">
            <a:avLst/>
          </a:prstGeom>
          <a:noFill/>
        </p:spPr>
        <p:txBody>
          <a:bodyPr wrap="square" lIns="45720" tIns="27432" rIns="45720" bIns="27432">
            <a:spAutoFit/>
          </a:bodyPr>
          <a:lstStyle/>
          <a:p>
            <a:r>
              <a:t>Prepared by: Neo Kole</a:t>
            </a:r>
          </a:p>
        </p:txBody>
      </p:sp>
      <p:sp>
        <p:nvSpPr>
          <p:cNvPr id="7" name="Rectangle 6"/>
          <p:cNvSpPr/>
          <p:nvPr/>
        </p:nvSpPr>
        <p:spPr>
          <a:xfrm>
            <a:off x="411480" y="6510528"/>
            <a:ext cx="11338560" cy="13716"/>
          </a:xfrm>
          <a:prstGeom prst="rect">
            <a:avLst/>
          </a:prstGeom>
          <a:solidFill>
            <a:srgbClr val="E0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6547104"/>
            <a:ext cx="11155680" cy="182880"/>
          </a:xfrm>
          <a:prstGeom prst="rect">
            <a:avLst/>
          </a:prstGeom>
          <a:noFill/>
        </p:spPr>
        <p:txBody>
          <a:bodyPr wrap="none">
            <a:spAutoFit/>
          </a:bodyPr>
          <a:lstStyle/>
          <a:p>
            <a:pPr>
              <a:defRPr sz="800">
                <a:solidFill>
                  <a:srgbClr val="637180"/>
                </a:solidFill>
                <a:latin typeface="Aptos"/>
              </a:defRPr>
            </a:pPr>
            <a:r>
              <a:t>BRIGHT COFFEE SHOP SALES ANALYSIS  |  JAN–JUN 2023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2113</Words>
  <Application>Microsoft Office PowerPoint</Application>
  <PresentationFormat>Widescreen</PresentationFormat>
  <Paragraphs>288</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neo Kole</dc:creator>
  <cp:keywords/>
  <dc:description>generated using python-pptx</dc:description>
  <cp:lastModifiedBy>neo Kole</cp:lastModifiedBy>
  <cp:revision>2</cp:revision>
  <dcterms:created xsi:type="dcterms:W3CDTF">2013-01-27T09:14:16Z</dcterms:created>
  <dcterms:modified xsi:type="dcterms:W3CDTF">2026-10-11T22:39:00Z</dcterms:modified>
  <cp:category/>
</cp:coreProperties>
</file>